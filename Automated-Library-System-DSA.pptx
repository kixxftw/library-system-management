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57" r:id="rId6"/>
    <p:sldId id="259" r:id="rId7"/>
    <p:sldId id="260" r:id="rId8"/>
    <p:sldId id="274" r:id="rId9"/>
    <p:sldId id="269" r:id="rId10"/>
    <p:sldId id="270" r:id="rId11"/>
    <p:sldId id="261" r:id="rId12"/>
    <p:sldId id="271" r:id="rId13"/>
    <p:sldId id="267" r:id="rId14"/>
    <p:sldId id="268" r:id="rId15"/>
    <p:sldId id="263" r:id="rId16"/>
    <p:sldId id="265" r:id="rId17"/>
    <p:sldId id="264" r:id="rId18"/>
    <p:sldId id="272" r:id="rId19"/>
    <p:sldId id="266" r:id="rId20"/>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9" autoAdjust="0"/>
  </p:normalViewPr>
  <p:slideViewPr>
    <p:cSldViewPr>
      <p:cViewPr varScale="1">
        <p:scale>
          <a:sx n="139" d="100"/>
          <a:sy n="139" d="100"/>
        </p:scale>
        <p:origin x="804" y="11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DD52F8-6227-4FF8-B5A3-DCF7C4B0C09A}" type="datetimeFigureOut">
              <a:rPr lang="en-PH" smtClean="0"/>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20EF9D-D0DC-4D1F-A8F9-E3D2074B84E2}" type="slidenum">
              <a:rPr lang="en-PH" smtClean="0"/>
            </a:fld>
            <a:endParaRPr lang="en-PH"/>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5E20EF9D-D0DC-4D1F-A8F9-E3D2074B84E2}" type="slidenum">
              <a:rPr lang="en-PH" smtClean="0"/>
            </a:fld>
            <a:endParaRPr lang="en-P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Nunito Sans" pitchFamily="2" charset="0"/>
              </a:rPr>
              <a:t>Library automation projects make library operations more efficient and user-friendly by automating tasks such as adding, displaying, searching, and deleting books. The system is easy for anyone to use and securely manages user data. It allows access only to authorized personnel. However, the areas that need improvement are: Increase capacity: The current system only supports a maximum of 100 books, which will need to be expanded for larger libraries. Improved Error Handling: Better mechanisms for handling invalid inputs and other errors. Use continuous storage: Ensure data is protected and accessible even when the system is shut down. by maintaining the continuity and reliability of data Addressing these improvements may make the system more practical and effective. This is especially true for large libraries.</a:t>
            </a:r>
            <a:endParaRPr lang="en-PH" dirty="0"/>
          </a:p>
        </p:txBody>
      </p:sp>
      <p:sp>
        <p:nvSpPr>
          <p:cNvPr id="4" name="Slide Number Placeholder 3"/>
          <p:cNvSpPr>
            <a:spLocks noGrp="1"/>
          </p:cNvSpPr>
          <p:nvPr>
            <p:ph type="sldNum" sz="quarter" idx="5"/>
          </p:nvPr>
        </p:nvSpPr>
        <p:spPr/>
        <p:txBody>
          <a:bodyPr/>
          <a:lstStyle/>
          <a:p>
            <a:fld id="{5E20EF9D-D0DC-4D1F-A8F9-E3D2074B84E2}" type="slidenum">
              <a:rPr lang="en-PH" smtClean="0"/>
            </a:fld>
            <a:endParaRPr lang="en-PH"/>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p:spTree>
      <p:nvGrpSpPr>
        <p:cNvPr id="1" name=""/>
        <p:cNvGrpSpPr/>
        <p:nvPr/>
      </p:nvGrpSpPr>
      <p:grpSpPr>
        <a:xfrm>
          <a:off x="0" y="0"/>
          <a:ext cx="9144000" cy="5143500"/>
          <a:chOff x="0" y="0"/>
          <a:chExt cx="9144000" cy="5143500"/>
        </a:xfrm>
      </p:grpSpPr>
      <p:pic>
        <p:nvPicPr>
          <p:cNvPr id="2" name="Google Shape;7;p2"/>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_1">
    <p:spTree>
      <p:nvGrpSpPr>
        <p:cNvPr id="1" name=""/>
        <p:cNvGrpSpPr/>
        <p:nvPr/>
      </p:nvGrpSpPr>
      <p:grpSpPr>
        <a:xfrm>
          <a:off x="0" y="0"/>
          <a:ext cx="9144000" cy="5143500"/>
          <a:chOff x="0" y="0"/>
          <a:chExt cx="9144000" cy="5143500"/>
        </a:xfrm>
      </p:grpSpPr>
      <p:pic>
        <p:nvPicPr>
          <p:cNvPr id="2" name="Google Shape;9;p3"/>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STOM_1_1">
    <p:spTree>
      <p:nvGrpSpPr>
        <p:cNvPr id="1" name=""/>
        <p:cNvGrpSpPr/>
        <p:nvPr/>
      </p:nvGrpSpPr>
      <p:grpSpPr>
        <a:xfrm>
          <a:off x="0" y="0"/>
          <a:ext cx="9144000" cy="5143500"/>
          <a:chOff x="0" y="0"/>
          <a:chExt cx="9144000" cy="5143500"/>
        </a:xfrm>
      </p:grpSpPr>
      <p:pic>
        <p:nvPicPr>
          <p:cNvPr id="2" name="Google Shape;11;p4"/>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_1_1_1">
    <p:spTree>
      <p:nvGrpSpPr>
        <p:cNvPr id="1" name=""/>
        <p:cNvGrpSpPr/>
        <p:nvPr/>
      </p:nvGrpSpPr>
      <p:grpSpPr>
        <a:xfrm>
          <a:off x="0" y="0"/>
          <a:ext cx="9144000" cy="5143500"/>
          <a:chOff x="0" y="0"/>
          <a:chExt cx="9144000" cy="5143500"/>
        </a:xfrm>
      </p:grpSpPr>
      <p:pic>
        <p:nvPicPr>
          <p:cNvPr id="2" name="Google Shape;13;p5"/>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USTOM_1_1_1_1">
    <p:spTree>
      <p:nvGrpSpPr>
        <p:cNvPr id="1" name=""/>
        <p:cNvGrpSpPr/>
        <p:nvPr/>
      </p:nvGrpSpPr>
      <p:grpSpPr>
        <a:xfrm>
          <a:off x="0" y="0"/>
          <a:ext cx="9144000" cy="5143500"/>
          <a:chOff x="0" y="0"/>
          <a:chExt cx="9144000" cy="5143500"/>
        </a:xfrm>
      </p:grpSpPr>
      <p:pic>
        <p:nvPicPr>
          <p:cNvPr id="2" name="Google Shape;15;p6"/>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USTOM_1_1_1_1_1">
    <p:spTree>
      <p:nvGrpSpPr>
        <p:cNvPr id="1" name=""/>
        <p:cNvGrpSpPr/>
        <p:nvPr/>
      </p:nvGrpSpPr>
      <p:grpSpPr>
        <a:xfrm>
          <a:off x="0" y="0"/>
          <a:ext cx="9144000" cy="5143500"/>
          <a:chOff x="0" y="0"/>
          <a:chExt cx="9144000" cy="5143500"/>
        </a:xfrm>
      </p:grpSpPr>
      <p:pic>
        <p:nvPicPr>
          <p:cNvPr id="2" name="Google Shape;17;p7"/>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USTOM_1_1_1_1_1_1">
    <p:spTree>
      <p:nvGrpSpPr>
        <p:cNvPr id="1" name=""/>
        <p:cNvGrpSpPr/>
        <p:nvPr/>
      </p:nvGrpSpPr>
      <p:grpSpPr>
        <a:xfrm>
          <a:off x="0" y="0"/>
          <a:ext cx="9144000" cy="5143500"/>
          <a:chOff x="0" y="0"/>
          <a:chExt cx="9144000" cy="5143500"/>
        </a:xfrm>
      </p:grpSpPr>
      <p:pic>
        <p:nvPicPr>
          <p:cNvPr id="2" name="Google Shape;19;p8"/>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USTOM_1_1_1_1_1_1_1">
    <p:spTree>
      <p:nvGrpSpPr>
        <p:cNvPr id="1" name=""/>
        <p:cNvGrpSpPr/>
        <p:nvPr/>
      </p:nvGrpSpPr>
      <p:grpSpPr>
        <a:xfrm>
          <a:off x="0" y="0"/>
          <a:ext cx="9144000" cy="5143500"/>
          <a:chOff x="0" y="0"/>
          <a:chExt cx="9144000" cy="5143500"/>
        </a:xfrm>
      </p:grpSpPr>
      <p:pic>
        <p:nvPicPr>
          <p:cNvPr id="2" name="Google Shape;21;p9"/>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E"/>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p:titleStyle>
    <p:body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p:bodyStyle>
    <p:other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543050"/>
          <a:ext cx="8229600" cy="3829050"/>
          <a:chOff x="914400" y="1543050"/>
          <a:chExt cx="8229600" cy="3829050"/>
        </a:xfrm>
      </p:grpSpPr>
      <p:sp>
        <p:nvSpPr>
          <p:cNvPr id="2" name="TextBox 1"/>
          <p:cNvSpPr txBox="1"/>
          <p:nvPr/>
        </p:nvSpPr>
        <p:spPr>
          <a:xfrm>
            <a:off x="1739632" y="451844"/>
            <a:ext cx="5486400" cy="830997"/>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2400" b="1" u="none" strike="noStrike" cap="none" spc="0" dirty="0">
                <a:solidFill>
                  <a:srgbClr val="121212">
                    <a:alpha val="100000"/>
                  </a:srgbClr>
                </a:solidFill>
                <a:latin typeface="Times New Roman" panose="02020603050405020304"/>
              </a:rPr>
              <a:t>Automated Library System for Enhanced Resource Accessibility</a:t>
            </a:r>
            <a:endParaRPr lang="en-US" sz="2400" b="1" u="none" strike="noStrike" cap="none" spc="0" dirty="0">
              <a:solidFill>
                <a:srgbClr val="121212">
                  <a:alpha val="100000"/>
                </a:srgbClr>
              </a:solidFill>
              <a:latin typeface="Times New Roman" panose="02020603050405020304"/>
            </a:endParaRPr>
          </a:p>
        </p:txBody>
      </p:sp>
      <p:sp>
        <p:nvSpPr>
          <p:cNvPr id="3" name="TextBox 2"/>
          <p:cNvSpPr txBox="1"/>
          <p:nvPr/>
        </p:nvSpPr>
        <p:spPr>
          <a:xfrm>
            <a:off x="755576" y="1282275"/>
            <a:ext cx="7315200" cy="276999"/>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1200" b="1" u="none" strike="noStrike" cap="none" spc="0" dirty="0">
                <a:solidFill>
                  <a:srgbClr val="424242">
                    <a:alpha val="100000"/>
                  </a:srgbClr>
                </a:solidFill>
                <a:latin typeface="Times New Roman" panose="02020603050405020304"/>
              </a:rPr>
              <a:t>A Project Presented to the Faculty of Urdaneta City University Computer Engineering</a:t>
            </a:r>
            <a:endParaRPr lang="en-US" sz="1200" b="1" u="none" strike="noStrike" cap="none" spc="0" dirty="0">
              <a:solidFill>
                <a:srgbClr val="424242">
                  <a:alpha val="100000"/>
                </a:srgbClr>
              </a:solidFill>
              <a:latin typeface="Times New Roman" panose="02020603050405020304"/>
            </a:endParaRPr>
          </a:p>
        </p:txBody>
      </p:sp>
      <p:sp>
        <p:nvSpPr>
          <p:cNvPr id="4" name="TextBox 3"/>
          <p:cNvSpPr txBox="1"/>
          <p:nvPr/>
        </p:nvSpPr>
        <p:spPr>
          <a:xfrm>
            <a:off x="2055187" y="1678037"/>
            <a:ext cx="5171981" cy="461665"/>
          </a:xfrm>
          <a:prstGeom prst="rect">
            <a:avLst/>
          </a:prstGeom>
          <a:noFill/>
        </p:spPr>
        <p:txBody>
          <a:bodyPr vert="horz" wrap="square" lIns="91440" tIns="45720" rIns="91440" bIns="45720" rtlCol="0" anchor="t" anchorCtr="0">
            <a:spAutoFit/>
          </a:bodyPr>
          <a:lstStyle/>
          <a:p>
            <a:pPr marL="0" marR="0">
              <a:spcAft>
                <a:spcPts val="800"/>
              </a:spcAft>
            </a:pPr>
            <a:r>
              <a:rPr lang="en-PH" sz="1200" b="1" kern="100" dirty="0">
                <a:effectLst/>
                <a:latin typeface="Times New Roman" panose="02020603050405020304" pitchFamily="18" charset="0"/>
                <a:ea typeface="Calibri" panose="020F0502020204030204" pitchFamily="34" charset="0"/>
                <a:cs typeface="Times New Roman" panose="02020603050405020304" pitchFamily="18" charset="0"/>
              </a:rPr>
              <a:t>IN PARTIAL FULFILLMENT OF THE REQUIREMENTS FOR THE SUBJECT DATA STRUCTURE AND ALGORITHMS LABORATORY</a:t>
            </a: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PH"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p:cNvSpPr txBox="1"/>
          <p:nvPr/>
        </p:nvSpPr>
        <p:spPr>
          <a:xfrm>
            <a:off x="2843808" y="2206781"/>
            <a:ext cx="3024336" cy="2000548"/>
          </a:xfrm>
          <a:prstGeom prst="rect">
            <a:avLst/>
          </a:prstGeom>
          <a:noFill/>
        </p:spPr>
        <p:txBody>
          <a:bodyPr wrap="square">
            <a:spAutoFit/>
          </a:bodyPr>
          <a:lstStyle/>
          <a:p>
            <a:pPr marL="0" marR="0" algn="ctr">
              <a:spcAft>
                <a:spcPts val="800"/>
              </a:spcAft>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Group 1:</a:t>
            </a:r>
            <a:endParaRPr lang="en-PH"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spcAft>
                <a:spcPts val="800"/>
              </a:spcAft>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Mark Jethro T. Valdez</a:t>
            </a:r>
            <a:endParaRPr lang="en-PH"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spcAft>
                <a:spcPts val="800"/>
              </a:spcAft>
            </a:pP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Alfe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Jan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Andrie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U.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Agulan</a:t>
            </a:r>
            <a:endParaRPr lang="en-PH"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spcAft>
                <a:spcPts val="800"/>
              </a:spcAft>
            </a:pP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Fhenelyn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Rose A. Yadao</a:t>
            </a:r>
            <a:endParaRPr lang="en-PH"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spcAft>
                <a:spcPts val="800"/>
              </a:spcAft>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Charlize Kate B.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Lacambra</a:t>
            </a:r>
            <a:endParaRPr lang="en-PH"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spcAft>
                <a:spcPts val="800"/>
              </a:spcAft>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Kurt Cedric D.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Capuli</a:t>
            </a:r>
            <a:endParaRPr lang="en-PH"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Alexander Noel D.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Abando</a:t>
            </a:r>
            <a:endParaRPr lang="en-US" sz="1000" b="1" u="none" strike="noStrike" cap="none" spc="0" dirty="0">
              <a:solidFill>
                <a:srgbClr val="424242">
                  <a:alpha val="100000"/>
                </a:srgb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733800"/>
          <a:chOff x="914400" y="1028700"/>
          <a:chExt cx="8229600" cy="3733800"/>
        </a:xfrm>
      </p:grpSpPr>
      <p:sp>
        <p:nvSpPr>
          <p:cNvPr id="2" name="TextBox 1"/>
          <p:cNvSpPr txBox="1"/>
          <p:nvPr/>
        </p:nvSpPr>
        <p:spPr>
          <a:xfrm>
            <a:off x="914400" y="37150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a:rPr>
              <a:t>Table of contents</a:t>
            </a:r>
            <a:endParaRPr lang="en-US" sz="2800" b="1" u="none" strike="noStrike" cap="none" spc="0" dirty="0">
              <a:solidFill>
                <a:srgbClr val="121212">
                  <a:alpha val="100000"/>
                </a:srgbClr>
              </a:solidFill>
              <a:latin typeface="Times New Roman" panose="02020603050405020304"/>
            </a:endParaRPr>
          </a:p>
        </p:txBody>
      </p:sp>
      <p:sp>
        <p:nvSpPr>
          <p:cNvPr id="3" name="TextBox 2"/>
          <p:cNvSpPr txBox="1"/>
          <p:nvPr/>
        </p:nvSpPr>
        <p:spPr>
          <a:xfrm>
            <a:off x="914400" y="843558"/>
            <a:ext cx="4881736" cy="3415030"/>
          </a:xfrm>
          <a:prstGeom prst="rect">
            <a:avLst/>
          </a:prstGeom>
          <a:noFill/>
        </p:spPr>
        <p:txBody>
          <a:bodyPr vert="horz" wrap="square" lIns="91440" tIns="45720" rIns="91440" bIns="45720" rtlCol="0" anchorCtr="0">
            <a:spAutoFit/>
          </a:bodyPr>
          <a:lstStyle/>
          <a:p>
            <a:pPr marL="342900" marR="0" lvl="0" indent="-342900" algn="l" rtl="0" fontAlgn="base">
              <a:lnSpc>
                <a:spcPct val="120000"/>
              </a:lnSpc>
              <a:spcBef>
                <a:spcPts val="0"/>
              </a:spcBef>
              <a:spcAft>
                <a:spcPts val="0"/>
              </a:spcAft>
              <a:buClr>
                <a:srgbClr val="424242">
                  <a:alpha val="100000"/>
                </a:srgbClr>
              </a:buClr>
              <a:buFont typeface="Wingdings" panose="05000000000000000000" pitchFamily="2" charset="2"/>
              <a:buChar char="q"/>
            </a:pPr>
            <a:r>
              <a:rPr lang="en-US" sz="2000" b="1" u="none" strike="noStrike" cap="none" spc="0" dirty="0">
                <a:solidFill>
                  <a:srgbClr val="424242">
                    <a:alpha val="100000"/>
                  </a:srgbClr>
                </a:solidFill>
                <a:latin typeface="Times New Roman" panose="02020603050405020304"/>
              </a:rPr>
              <a:t>Chapter 1</a:t>
            </a:r>
            <a:endParaRPr lang="en-US" sz="2000" b="1" u="none" strike="noStrike" cap="none" spc="0" dirty="0">
              <a:solidFill>
                <a:srgbClr val="424242">
                  <a:alpha val="100000"/>
                </a:srgbClr>
              </a:solidFill>
              <a:latin typeface="Times New Roman" panose="02020603050405020304"/>
            </a:endParaRPr>
          </a:p>
          <a:p>
            <a:pPr marL="0" marR="0" lvl="0" indent="0" algn="l" rtl="0" fontAlgn="base">
              <a:lnSpc>
                <a:spcPct val="120000"/>
              </a:lnSpc>
              <a:spcBef>
                <a:spcPts val="0"/>
              </a:spcBef>
              <a:spcAft>
                <a:spcPts val="0"/>
              </a:spcAft>
              <a:buClr>
                <a:srgbClr val="424242">
                  <a:alpha val="100000"/>
                </a:srgbClr>
              </a:buClr>
              <a:buFont typeface="Calibri" panose="020F0502020204030204"/>
              <a:buChar char="-"/>
            </a:pPr>
            <a:r>
              <a:rPr lang="en-US" sz="2000" b="1" u="none" strike="noStrike" cap="none" spc="0" dirty="0">
                <a:solidFill>
                  <a:srgbClr val="424242">
                    <a:alpha val="100000"/>
                  </a:srgbClr>
                </a:solidFill>
                <a:latin typeface="Times New Roman" panose="02020603050405020304"/>
              </a:rPr>
              <a:t> </a:t>
            </a:r>
            <a:r>
              <a:rPr lang="en-US" sz="2000" u="none" strike="noStrike" cap="none" spc="0" dirty="0">
                <a:solidFill>
                  <a:srgbClr val="424242">
                    <a:alpha val="100000"/>
                  </a:srgbClr>
                </a:solidFill>
                <a:latin typeface="Times New Roman" panose="02020603050405020304"/>
              </a:rPr>
              <a:t>Introduction </a:t>
            </a:r>
            <a:endParaRPr lang="en-US" sz="2000" u="none" strike="noStrike" cap="none" spc="0" dirty="0">
              <a:solidFill>
                <a:srgbClr val="424242">
                  <a:alpha val="100000"/>
                </a:srgbClr>
              </a:solidFill>
              <a:latin typeface="Times New Roman" panose="02020603050405020304"/>
            </a:endParaRPr>
          </a:p>
          <a:p>
            <a:pPr marL="0" marR="0" lvl="0" indent="0" algn="l" rtl="0" fontAlgn="base">
              <a:lnSpc>
                <a:spcPct val="120000"/>
              </a:lnSpc>
              <a:spcBef>
                <a:spcPts val="0"/>
              </a:spcBef>
              <a:spcAft>
                <a:spcPts val="0"/>
              </a:spcAft>
              <a:buClr>
                <a:srgbClr val="424242">
                  <a:alpha val="100000"/>
                </a:srgbClr>
              </a:buClr>
              <a:buFont typeface="Calibri" panose="020F0502020204030204"/>
              <a:buChar char="-"/>
            </a:pPr>
            <a:r>
              <a:rPr lang="en-US" sz="2000" u="none" strike="noStrike" cap="none" spc="0" dirty="0">
                <a:solidFill>
                  <a:srgbClr val="424242">
                    <a:alpha val="100000"/>
                  </a:srgbClr>
                </a:solidFill>
                <a:latin typeface="Times New Roman" panose="02020603050405020304"/>
              </a:rPr>
              <a:t> Objectives of the Project</a:t>
            </a:r>
            <a:endParaRPr lang="en-US" sz="2000" u="none" strike="noStrike" cap="none" spc="0" dirty="0">
              <a:solidFill>
                <a:srgbClr val="424242">
                  <a:alpha val="100000"/>
                </a:srgbClr>
              </a:solidFill>
              <a:latin typeface="Times New Roman" panose="02020603050405020304"/>
            </a:endParaRPr>
          </a:p>
          <a:p>
            <a:pPr marL="0" marR="0" lvl="0" indent="0" algn="l" rtl="0" fontAlgn="base">
              <a:lnSpc>
                <a:spcPct val="120000"/>
              </a:lnSpc>
              <a:spcBef>
                <a:spcPts val="0"/>
              </a:spcBef>
              <a:spcAft>
                <a:spcPts val="0"/>
              </a:spcAft>
              <a:buClr>
                <a:srgbClr val="424242">
                  <a:alpha val="100000"/>
                </a:srgbClr>
              </a:buClr>
              <a:buFont typeface="Calibri" panose="020F0502020204030204"/>
              <a:buChar char="-"/>
            </a:pPr>
            <a:r>
              <a:rPr lang="en-US" sz="2000" u="none" strike="noStrike" cap="none" spc="0" dirty="0">
                <a:solidFill>
                  <a:srgbClr val="424242">
                    <a:alpha val="100000"/>
                  </a:srgbClr>
                </a:solidFill>
                <a:latin typeface="Times New Roman" panose="02020603050405020304"/>
              </a:rPr>
              <a:t> Scope and Limitations</a:t>
            </a:r>
            <a:endParaRPr lang="en-US" sz="2000" u="none" strike="noStrike" cap="none" spc="0" dirty="0">
              <a:solidFill>
                <a:srgbClr val="424242">
                  <a:alpha val="100000"/>
                </a:srgbClr>
              </a:solidFill>
              <a:latin typeface="Times New Roman" panose="02020603050405020304"/>
            </a:endParaRPr>
          </a:p>
          <a:p>
            <a:pPr marL="342900" marR="0" lvl="0" indent="-342900" algn="l" rtl="0" fontAlgn="base">
              <a:lnSpc>
                <a:spcPct val="120000"/>
              </a:lnSpc>
              <a:spcBef>
                <a:spcPts val="0"/>
              </a:spcBef>
              <a:spcAft>
                <a:spcPts val="0"/>
              </a:spcAft>
              <a:buClr>
                <a:srgbClr val="424242">
                  <a:alpha val="100000"/>
                </a:srgbClr>
              </a:buClr>
              <a:buFont typeface="Wingdings" panose="05000000000000000000" pitchFamily="2" charset="2"/>
              <a:buChar char="q"/>
            </a:pPr>
            <a:r>
              <a:rPr lang="en-US" sz="2000" b="1" dirty="0">
                <a:solidFill>
                  <a:srgbClr val="424242">
                    <a:alpha val="100000"/>
                  </a:srgbClr>
                </a:solidFill>
                <a:latin typeface="Times New Roman" panose="02020603050405020304"/>
              </a:rPr>
              <a:t>Chapter 2</a:t>
            </a:r>
            <a:r>
              <a:rPr lang="en-US" sz="2000" b="1" u="none" strike="noStrike" cap="none" spc="0" dirty="0">
                <a:solidFill>
                  <a:srgbClr val="424242">
                    <a:alpha val="100000"/>
                  </a:srgbClr>
                </a:solidFill>
                <a:latin typeface="Times New Roman" panose="02020603050405020304"/>
              </a:rPr>
              <a:t> </a:t>
            </a:r>
            <a:endParaRPr lang="en-US" sz="2000" u="none" strike="noStrike" cap="none" spc="0" dirty="0">
              <a:solidFill>
                <a:srgbClr val="424242">
                  <a:alpha val="100000"/>
                </a:srgbClr>
              </a:solidFill>
              <a:latin typeface="Times New Roman" panose="02020603050405020304"/>
            </a:endParaRPr>
          </a:p>
          <a:p>
            <a:pPr marL="0" marR="0" lvl="0" indent="0" algn="l" rtl="0" fontAlgn="base">
              <a:lnSpc>
                <a:spcPct val="120000"/>
              </a:lnSpc>
              <a:spcBef>
                <a:spcPts val="0"/>
              </a:spcBef>
              <a:spcAft>
                <a:spcPts val="0"/>
              </a:spcAft>
              <a:buClr>
                <a:srgbClr val="424242">
                  <a:alpha val="100000"/>
                </a:srgbClr>
              </a:buClr>
              <a:buFont typeface="Calibri" panose="020F0502020204030204"/>
              <a:buChar char="-"/>
            </a:pPr>
            <a:r>
              <a:rPr lang="en-US" sz="2000" u="none" strike="noStrike" cap="none" spc="0" dirty="0">
                <a:solidFill>
                  <a:srgbClr val="424242">
                    <a:alpha val="100000"/>
                  </a:srgbClr>
                </a:solidFill>
                <a:latin typeface="Times New Roman" panose="02020603050405020304"/>
              </a:rPr>
              <a:t> Code </a:t>
            </a:r>
            <a:r>
              <a:rPr lang="en-US" sz="2000" dirty="0">
                <a:solidFill>
                  <a:srgbClr val="424242">
                    <a:alpha val="100000"/>
                  </a:srgbClr>
                </a:solidFill>
                <a:latin typeface="Times New Roman" panose="02020603050405020304"/>
              </a:rPr>
              <a:t>Purpose</a:t>
            </a:r>
            <a:endParaRPr lang="en-US" sz="2000" dirty="0">
              <a:solidFill>
                <a:srgbClr val="424242">
                  <a:alpha val="100000"/>
                </a:srgbClr>
              </a:solidFill>
              <a:latin typeface="Times New Roman" panose="02020603050405020304"/>
            </a:endParaRPr>
          </a:p>
          <a:p>
            <a:pPr fontAlgn="base">
              <a:lnSpc>
                <a:spcPct val="120000"/>
              </a:lnSpc>
              <a:buClr>
                <a:srgbClr val="424242">
                  <a:alpha val="100000"/>
                </a:srgbClr>
              </a:buClr>
              <a:buFont typeface="Calibri" panose="020F0502020204030204"/>
              <a:buChar char="-"/>
            </a:pPr>
            <a:r>
              <a:rPr lang="en-US" sz="2000" dirty="0">
                <a:solidFill>
                  <a:srgbClr val="424242">
                    <a:alpha val="100000"/>
                  </a:srgbClr>
                </a:solidFill>
                <a:latin typeface="Times New Roman" panose="02020603050405020304"/>
              </a:rPr>
              <a:t> Header Files and Marcos, Library Struct</a:t>
            </a:r>
            <a:endParaRPr lang="en-US" sz="2000" dirty="0">
              <a:solidFill>
                <a:srgbClr val="424242">
                  <a:alpha val="100000"/>
                </a:srgbClr>
              </a:solidFill>
              <a:latin typeface="Times New Roman" panose="02020603050405020304"/>
            </a:endParaRPr>
          </a:p>
          <a:p>
            <a:pPr fontAlgn="base">
              <a:lnSpc>
                <a:spcPct val="120000"/>
              </a:lnSpc>
              <a:buClr>
                <a:srgbClr val="424242">
                  <a:alpha val="100000"/>
                </a:srgbClr>
              </a:buClr>
              <a:buFont typeface="Calibri" panose="020F0502020204030204"/>
              <a:buChar char="-"/>
            </a:pPr>
            <a:r>
              <a:rPr lang="en-US" sz="2000" dirty="0">
                <a:solidFill>
                  <a:srgbClr val="424242">
                    <a:alpha val="100000"/>
                  </a:srgbClr>
                </a:solidFill>
                <a:latin typeface="Times New Roman" panose="02020603050405020304"/>
              </a:rPr>
              <a:t> </a:t>
            </a:r>
            <a:r>
              <a:rPr lang="en-US" sz="2000" u="none" strike="noStrike" cap="none" spc="0" dirty="0">
                <a:solidFill>
                  <a:srgbClr val="424242">
                    <a:alpha val="100000"/>
                  </a:srgbClr>
                </a:solidFill>
                <a:latin typeface="Times New Roman" panose="02020603050405020304"/>
              </a:rPr>
              <a:t>Main Functionality, Pre - Login</a:t>
            </a:r>
            <a:endParaRPr lang="en-US" sz="2000" dirty="0">
              <a:solidFill>
                <a:srgbClr val="424242">
                  <a:alpha val="100000"/>
                </a:srgbClr>
              </a:solidFill>
              <a:latin typeface="Times New Roman" panose="02020603050405020304"/>
            </a:endParaRPr>
          </a:p>
          <a:p>
            <a:pPr fontAlgn="base">
              <a:lnSpc>
                <a:spcPct val="120000"/>
              </a:lnSpc>
              <a:buClr>
                <a:srgbClr val="424242">
                  <a:alpha val="100000"/>
                </a:srgbClr>
              </a:buClr>
              <a:buFont typeface="Calibri" panose="020F0502020204030204"/>
              <a:buChar char="-"/>
            </a:pPr>
            <a:r>
              <a:rPr lang="en-US" sz="2000" dirty="0">
                <a:solidFill>
                  <a:srgbClr val="424242">
                    <a:alpha val="100000"/>
                  </a:srgbClr>
                </a:solidFill>
                <a:latin typeface="Times New Roman" panose="02020603050405020304"/>
              </a:rPr>
              <a:t> Code Strengths</a:t>
            </a:r>
            <a:endParaRPr lang="en-US" sz="2000" dirty="0">
              <a:solidFill>
                <a:srgbClr val="424242">
                  <a:alpha val="100000"/>
                </a:srgbClr>
              </a:solidFill>
              <a:latin typeface="Times New Roman" panose="02020603050405020304"/>
            </a:endParaRPr>
          </a:p>
        </p:txBody>
      </p:sp>
      <p:sp>
        <p:nvSpPr>
          <p:cNvPr id="4" name="TextBox 3"/>
          <p:cNvSpPr txBox="1"/>
          <p:nvPr/>
        </p:nvSpPr>
        <p:spPr>
          <a:xfrm>
            <a:off x="4590256" y="690564"/>
            <a:ext cx="3681264" cy="2306955"/>
          </a:xfrm>
          <a:prstGeom prst="rect">
            <a:avLst/>
          </a:prstGeom>
          <a:noFill/>
        </p:spPr>
        <p:txBody>
          <a:bodyPr vert="horz" wrap="square" lIns="91440" tIns="45720" rIns="91440" bIns="45720" rtlCol="0" anchorCtr="0">
            <a:spAutoFit/>
          </a:bodyPr>
          <a:lstStyle/>
          <a:p>
            <a:pPr marL="0" marR="0" lvl="0" indent="0" algn="l" rtl="0" fontAlgn="base">
              <a:lnSpc>
                <a:spcPct val="120000"/>
              </a:lnSpc>
              <a:spcBef>
                <a:spcPts val="0"/>
              </a:spcBef>
              <a:spcAft>
                <a:spcPts val="0"/>
              </a:spcAft>
              <a:buClr>
                <a:srgbClr val="424242">
                  <a:alpha val="100000"/>
                </a:srgbClr>
              </a:buClr>
              <a:buFont typeface="Calibri" panose="020F0502020204030204"/>
              <a:buChar char="-"/>
            </a:pPr>
            <a:r>
              <a:rPr lang="en-US" sz="2000" b="1" u="none" strike="noStrike" cap="none" spc="0" dirty="0">
                <a:solidFill>
                  <a:srgbClr val="424242">
                    <a:alpha val="100000"/>
                  </a:srgbClr>
                </a:solidFill>
                <a:latin typeface="Times New Roman" panose="02020603050405020304"/>
              </a:rPr>
              <a:t> </a:t>
            </a:r>
            <a:r>
              <a:rPr lang="en-US" sz="2000" u="none" strike="noStrike" cap="none" spc="0" dirty="0">
                <a:solidFill>
                  <a:srgbClr val="424242">
                    <a:alpha val="100000"/>
                  </a:srgbClr>
                </a:solidFill>
                <a:latin typeface="Times New Roman" panose="02020603050405020304"/>
              </a:rPr>
              <a:t>Importance of the Flow Chart</a:t>
            </a:r>
            <a:endParaRPr lang="en-US" sz="2000" u="none" strike="noStrike" cap="none" spc="0" dirty="0">
              <a:solidFill>
                <a:srgbClr val="424242">
                  <a:alpha val="100000"/>
                </a:srgbClr>
              </a:solidFill>
              <a:latin typeface="Times New Roman" panose="02020603050405020304"/>
            </a:endParaRPr>
          </a:p>
          <a:p>
            <a:pPr marL="0" marR="0" lvl="0" indent="0" algn="l" rtl="0" fontAlgn="base">
              <a:lnSpc>
                <a:spcPct val="120000"/>
              </a:lnSpc>
              <a:spcBef>
                <a:spcPts val="0"/>
              </a:spcBef>
              <a:spcAft>
                <a:spcPts val="0"/>
              </a:spcAft>
              <a:buClr>
                <a:srgbClr val="424242">
                  <a:alpha val="100000"/>
                </a:srgbClr>
              </a:buClr>
              <a:buFont typeface="Calibri" panose="020F0502020204030204"/>
              <a:buChar char="-"/>
            </a:pPr>
            <a:r>
              <a:rPr lang="en-US" sz="2000" u="none" strike="noStrike" cap="none" spc="0" dirty="0">
                <a:solidFill>
                  <a:srgbClr val="424242">
                    <a:alpha val="100000"/>
                  </a:srgbClr>
                </a:solidFill>
                <a:latin typeface="Times New Roman" panose="02020603050405020304"/>
              </a:rPr>
              <a:t> Areas for Improvement</a:t>
            </a:r>
            <a:endParaRPr lang="en-US" sz="2000" u="none" strike="noStrike" cap="none" spc="0" dirty="0">
              <a:solidFill>
                <a:srgbClr val="424242">
                  <a:alpha val="100000"/>
                </a:srgbClr>
              </a:solidFill>
              <a:latin typeface="Times New Roman" panose="02020603050405020304"/>
            </a:endParaRPr>
          </a:p>
          <a:p>
            <a:pPr marL="342900" marR="0" lvl="0" indent="-342900" algn="l" rtl="0" fontAlgn="base">
              <a:lnSpc>
                <a:spcPct val="120000"/>
              </a:lnSpc>
              <a:spcBef>
                <a:spcPts val="0"/>
              </a:spcBef>
              <a:spcAft>
                <a:spcPts val="0"/>
              </a:spcAft>
              <a:buClr>
                <a:srgbClr val="424242">
                  <a:alpha val="100000"/>
                </a:srgbClr>
              </a:buClr>
              <a:buFont typeface="Wingdings" panose="05000000000000000000" pitchFamily="2" charset="2"/>
              <a:buChar char="q"/>
            </a:pPr>
            <a:r>
              <a:rPr lang="en-US" sz="2000" b="1" u="none" strike="noStrike" cap="none" spc="0" dirty="0">
                <a:solidFill>
                  <a:srgbClr val="424242">
                    <a:alpha val="100000"/>
                  </a:srgbClr>
                </a:solidFill>
                <a:latin typeface="Times New Roman" panose="02020603050405020304"/>
              </a:rPr>
              <a:t>Chapter 3</a:t>
            </a:r>
            <a:endParaRPr lang="en-US" sz="2000" b="1" u="none" strike="noStrike" cap="none" spc="0" dirty="0">
              <a:solidFill>
                <a:srgbClr val="424242">
                  <a:alpha val="100000"/>
                </a:srgbClr>
              </a:solidFill>
              <a:latin typeface="Times New Roman" panose="02020603050405020304"/>
            </a:endParaRPr>
          </a:p>
          <a:p>
            <a:pPr marL="0" marR="0" lvl="0" indent="0" algn="l" rtl="0" fontAlgn="base">
              <a:lnSpc>
                <a:spcPct val="120000"/>
              </a:lnSpc>
              <a:spcBef>
                <a:spcPts val="0"/>
              </a:spcBef>
              <a:spcAft>
                <a:spcPts val="0"/>
              </a:spcAft>
              <a:buClr>
                <a:srgbClr val="424242">
                  <a:alpha val="100000"/>
                </a:srgbClr>
              </a:buClr>
              <a:buFont typeface="Calibri" panose="020F0502020204030204"/>
              <a:buChar char="-"/>
            </a:pPr>
            <a:r>
              <a:rPr lang="en-US" sz="2000" b="1" u="none" strike="noStrike" cap="none" spc="0">
                <a:solidFill>
                  <a:srgbClr val="424242">
                    <a:alpha val="100000"/>
                  </a:srgbClr>
                </a:solidFill>
                <a:latin typeface="Times New Roman" panose="02020603050405020304"/>
              </a:rPr>
              <a:t> </a:t>
            </a:r>
            <a:r>
              <a:rPr lang="en-US" sz="2000">
                <a:solidFill>
                  <a:srgbClr val="424242">
                    <a:alpha val="100000"/>
                  </a:srgbClr>
                </a:solidFill>
                <a:latin typeface="Times New Roman" panose="02020603050405020304"/>
              </a:rPr>
              <a:t>Conclusion</a:t>
            </a:r>
            <a:endParaRPr lang="en-US" sz="2000" u="none" strike="noStrike" cap="none" spc="0">
              <a:solidFill>
                <a:srgbClr val="424242">
                  <a:alpha val="100000"/>
                </a:srgbClr>
              </a:solidFill>
              <a:latin typeface="Times New Roman" panose="02020603050405020304"/>
            </a:endParaRPr>
          </a:p>
          <a:p>
            <a:pPr marL="0" marR="0" lvl="0" indent="0" algn="l" rtl="0" fontAlgn="base">
              <a:lnSpc>
                <a:spcPct val="120000"/>
              </a:lnSpc>
              <a:spcBef>
                <a:spcPts val="0"/>
              </a:spcBef>
              <a:spcAft>
                <a:spcPts val="0"/>
              </a:spcAft>
              <a:buClr>
                <a:srgbClr val="424242">
                  <a:alpha val="100000"/>
                </a:srgbClr>
              </a:buClr>
              <a:buFont typeface="Calibri" panose="020F0502020204030204"/>
              <a:buChar char="-"/>
            </a:pPr>
            <a:r>
              <a:rPr lang="en-US" sz="2000" u="none" strike="noStrike" cap="none" spc="0" dirty="0">
                <a:solidFill>
                  <a:srgbClr val="424242">
                    <a:alpha val="100000"/>
                  </a:srgbClr>
                </a:solidFill>
                <a:latin typeface="Times New Roman" panose="02020603050405020304"/>
              </a:rPr>
              <a:t>Recommendations </a:t>
            </a:r>
            <a:endParaRPr lang="en-US" sz="2000" dirty="0">
              <a:solidFill>
                <a:srgbClr val="424242">
                  <a:alpha val="100000"/>
                </a:srgbClr>
              </a:solidFill>
              <a:latin typeface="Times New Roman" panose="02020603050405020304"/>
            </a:endParaRPr>
          </a:p>
          <a:p>
            <a:pPr marL="0" marR="0" lvl="0" indent="0" algn="l" rtl="0" fontAlgn="base">
              <a:lnSpc>
                <a:spcPct val="120000"/>
              </a:lnSpc>
              <a:spcBef>
                <a:spcPts val="0"/>
              </a:spcBef>
              <a:spcAft>
                <a:spcPts val="0"/>
              </a:spcAft>
              <a:buClr>
                <a:srgbClr val="424242">
                  <a:alpha val="100000"/>
                </a:srgbClr>
              </a:buClr>
            </a:pPr>
            <a:endParaRPr lang="en-US" sz="2000" dirty="0">
              <a:solidFill>
                <a:srgbClr val="424242">
                  <a:alpha val="100000"/>
                </a:srgbClr>
              </a:solidFill>
              <a:latin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5153025"/>
          <a:chOff x="914400" y="1028700"/>
          <a:chExt cx="8229600" cy="5153025"/>
        </a:xfrm>
      </p:grpSpPr>
      <p:sp>
        <p:nvSpPr>
          <p:cNvPr id="2" name="TextBox 1"/>
          <p:cNvSpPr txBox="1"/>
          <p:nvPr/>
        </p:nvSpPr>
        <p:spPr>
          <a:xfrm>
            <a:off x="1828800" y="699542"/>
            <a:ext cx="5486400" cy="460375"/>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2400" b="1" u="none" strike="noStrike" cap="none" spc="0" dirty="0">
                <a:solidFill>
                  <a:srgbClr val="424242">
                    <a:alpha val="100000"/>
                  </a:srgbClr>
                </a:solidFill>
                <a:latin typeface="Times New Roman" panose="02020603050405020304"/>
              </a:rPr>
              <a:t>Introduction</a:t>
            </a:r>
            <a:endParaRPr lang="en-US" sz="2400" b="1" u="none" strike="noStrike" cap="none" spc="0" dirty="0">
              <a:solidFill>
                <a:srgbClr val="424242">
                  <a:alpha val="100000"/>
                </a:srgbClr>
              </a:solidFill>
              <a:latin typeface="Times New Roman" panose="02020603050405020304"/>
            </a:endParaRPr>
          </a:p>
        </p:txBody>
      </p:sp>
      <p:sp>
        <p:nvSpPr>
          <p:cNvPr id="3" name="TextBox 2"/>
          <p:cNvSpPr txBox="1"/>
          <p:nvPr/>
        </p:nvSpPr>
        <p:spPr>
          <a:xfrm>
            <a:off x="914400" y="1563638"/>
            <a:ext cx="7315200" cy="1938020"/>
          </a:xfrm>
          <a:prstGeom prst="rect">
            <a:avLst/>
          </a:prstGeom>
          <a:noFill/>
        </p:spPr>
        <p:txBody>
          <a:bodyPr vert="horz" lIns="91440" tIns="45720" rIns="91440" bIns="45720" rtlCol="0" anchor="t" anchorCtr="0">
            <a:spAutoFit/>
          </a:bodyPr>
          <a:lstStyle/>
          <a:p>
            <a:pPr marL="0" marR="0" lvl="0" indent="457200" algn="just" rtl="0" fontAlgn="t">
              <a:lnSpc>
                <a:spcPct val="120000"/>
              </a:lnSpc>
              <a:spcBef>
                <a:spcPts val="0"/>
              </a:spcBef>
              <a:spcAft>
                <a:spcPts val="0"/>
              </a:spcAft>
            </a:pPr>
            <a:r>
              <a:rPr lang="en-US" sz="2000" u="none" strike="noStrike" cap="none" spc="0" dirty="0">
                <a:solidFill>
                  <a:srgbClr val="424242">
                    <a:alpha val="100000"/>
                  </a:srgbClr>
                </a:solidFill>
                <a:latin typeface="Times New Roman" panose="02020603050405020304"/>
              </a:rPr>
              <a:t>The Automated Library System is designed to simplify library management tasks, making information more accessible. This software application facilitates Creating Student account, </a:t>
            </a:r>
            <a:r>
              <a:rPr lang="en-US" sz="2000" dirty="0">
                <a:solidFill>
                  <a:srgbClr val="424242">
                    <a:alpha val="100000"/>
                  </a:srgbClr>
                </a:solidFill>
                <a:latin typeface="Times New Roman" panose="02020603050405020304"/>
              </a:rPr>
              <a:t>Barrowing </a:t>
            </a:r>
            <a:r>
              <a:rPr lang="en-US" sz="2000" u="none" strike="noStrike" cap="none" spc="0" dirty="0">
                <a:solidFill>
                  <a:srgbClr val="424242">
                    <a:alpha val="100000"/>
                  </a:srgbClr>
                </a:solidFill>
                <a:latin typeface="Times New Roman" panose="02020603050405020304"/>
              </a:rPr>
              <a:t>and </a:t>
            </a:r>
            <a:r>
              <a:rPr lang="en-US" sz="2000" dirty="0">
                <a:solidFill>
                  <a:srgbClr val="424242">
                    <a:alpha val="100000"/>
                  </a:srgbClr>
                </a:solidFill>
                <a:latin typeface="Times New Roman" panose="02020603050405020304"/>
              </a:rPr>
              <a:t>Returning of</a:t>
            </a:r>
            <a:r>
              <a:rPr lang="en-US" sz="2000" u="none" strike="noStrike" cap="none" spc="0" dirty="0">
                <a:solidFill>
                  <a:srgbClr val="424242">
                    <a:alpha val="100000"/>
                  </a:srgbClr>
                </a:solidFill>
                <a:latin typeface="Times New Roman" panose="02020603050405020304"/>
              </a:rPr>
              <a:t> books, ensuring efficient book management for users.</a:t>
            </a:r>
            <a:endParaRPr lang="en-US" sz="2000" u="none" strike="noStrike" cap="none" spc="0" dirty="0">
              <a:solidFill>
                <a:srgbClr val="424242">
                  <a:alpha val="100000"/>
                </a:srgbClr>
              </a:solidFill>
              <a:latin typeface="Times New Roman" panose="02020603050405020304"/>
            </a:endParaRPr>
          </a:p>
        </p:txBody>
      </p:sp>
      <p:sp>
        <p:nvSpPr>
          <p:cNvPr id="5" name="Text Box 4"/>
          <p:cNvSpPr txBox="1"/>
          <p:nvPr/>
        </p:nvSpPr>
        <p:spPr>
          <a:xfrm>
            <a:off x="3851910" y="411480"/>
            <a:ext cx="3048000" cy="398780"/>
          </a:xfrm>
          <a:prstGeom prst="rect">
            <a:avLst/>
          </a:prstGeom>
          <a:noFill/>
        </p:spPr>
        <p:txBody>
          <a:bodyPr wrap="square" rtlCol="0">
            <a:spAutoFit/>
          </a:bodyPr>
          <a:p>
            <a:r>
              <a:rPr lang="en-US" sz="2000" b="1">
                <a:latin typeface="Times New Roman" panose="02020603050405020304" pitchFamily="18" charset="0"/>
                <a:cs typeface="Times New Roman" panose="02020603050405020304" pitchFamily="18" charset="0"/>
              </a:rPr>
              <a:t>Chapter I</a:t>
            </a:r>
            <a:endParaRPr lang="en-US" sz="2000" b="1">
              <a:latin typeface="Times New Roman" panose="02020603050405020304" pitchFamily="18" charset="0"/>
              <a:cs typeface="Times New Roman" panose="02020603050405020304" pitchFamily="18" charset="0"/>
            </a:endParaRPr>
          </a:p>
        </p:txBody>
      </p:sp>
      <p:sp>
        <p:nvSpPr>
          <p:cNvPr id="6" name="Text Box 5"/>
          <p:cNvSpPr txBox="1"/>
          <p:nvPr/>
        </p:nvSpPr>
        <p:spPr>
          <a:xfrm>
            <a:off x="914400" y="1203960"/>
            <a:ext cx="3048000" cy="398780"/>
          </a:xfrm>
          <a:prstGeom prst="rect">
            <a:avLst/>
          </a:prstGeom>
          <a:noFill/>
        </p:spPr>
        <p:txBody>
          <a:bodyPr wrap="square" rtlCol="0">
            <a:spAutoFit/>
          </a:bodyPr>
          <a:p>
            <a:r>
              <a:rPr lang="en-US" sz="2000" b="1">
                <a:latin typeface="Times New Roman" panose="02020603050405020304" pitchFamily="18" charset="0"/>
                <a:cs typeface="Times New Roman" panose="02020603050405020304" pitchFamily="18" charset="0"/>
              </a:rPr>
              <a:t>Background of the project</a:t>
            </a:r>
            <a:endParaRPr lang="en-US" sz="2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324225"/>
          <a:chOff x="914400" y="1028700"/>
          <a:chExt cx="8229600" cy="3324225"/>
        </a:xfrm>
      </p:grpSpPr>
      <p:sp>
        <p:nvSpPr>
          <p:cNvPr id="2" name="TextBox 1"/>
          <p:cNvSpPr txBox="1"/>
          <p:nvPr/>
        </p:nvSpPr>
        <p:spPr>
          <a:xfrm>
            <a:off x="914400" y="102870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a:solidFill>
                  <a:srgbClr val="121212">
                    <a:alpha val="100000"/>
                  </a:srgbClr>
                </a:solidFill>
                <a:latin typeface="Times New Roman" panose="02020603050405020304"/>
              </a:rPr>
              <a:t>Objectives of the Project</a:t>
            </a:r>
            <a:endParaRPr lang="en-US" sz="2800" b="1" u="none" strike="noStrike" cap="none" spc="0">
              <a:solidFill>
                <a:srgbClr val="121212">
                  <a:alpha val="100000"/>
                </a:srgbClr>
              </a:solidFill>
              <a:latin typeface="Times New Roman" panose="02020603050405020304"/>
            </a:endParaRPr>
          </a:p>
        </p:txBody>
      </p:sp>
      <p:sp>
        <p:nvSpPr>
          <p:cNvPr id="3" name="TextBox 2"/>
          <p:cNvSpPr txBox="1"/>
          <p:nvPr/>
        </p:nvSpPr>
        <p:spPr>
          <a:xfrm>
            <a:off x="914400" y="1800225"/>
            <a:ext cx="7315200" cy="474345"/>
          </a:xfrm>
          <a:prstGeom prst="rect">
            <a:avLst/>
          </a:prstGeom>
          <a:noFill/>
        </p:spPr>
        <p:txBody>
          <a:bodyPr vert="horz" lIns="91440" tIns="45720" rIns="91440" bIns="45720" rtlCol="0" anchorCtr="0">
            <a:noAutofit/>
          </a:bodyPr>
          <a:lstStyle/>
          <a:p>
            <a:pPr marL="342900" marR="0" lvl="0" indent="-342900" algn="l" rtl="0" fontAlgn="base">
              <a:lnSpc>
                <a:spcPct val="100000"/>
              </a:lnSpc>
              <a:spcBef>
                <a:spcPts val="0"/>
              </a:spcBef>
              <a:spcAft>
                <a:spcPts val="0"/>
              </a:spcAft>
              <a:buFont typeface="Arial" panose="020B0604020202020204" pitchFamily="34" charset="0"/>
              <a:buChar char="•"/>
            </a:pPr>
            <a:r>
              <a:rPr lang="en-US" sz="2000" u="none" strike="noStrike" cap="none" spc="0" dirty="0">
                <a:solidFill>
                  <a:srgbClr val="424242">
                    <a:alpha val="100000"/>
                  </a:srgbClr>
                </a:solidFill>
                <a:latin typeface="Times New Roman" panose="02020603050405020304"/>
              </a:rPr>
              <a:t>To determine the advantages of an automated library system.
</a:t>
            </a:r>
            <a:endParaRPr lang="en-US" sz="2000" u="none" strike="noStrike" cap="none" spc="0" dirty="0">
              <a:solidFill>
                <a:srgbClr val="424242">
                  <a:alpha val="100000"/>
                </a:srgbClr>
              </a:solidFill>
              <a:latin typeface="Times New Roman" panose="02020603050405020304"/>
            </a:endParaRPr>
          </a:p>
        </p:txBody>
      </p:sp>
      <p:sp>
        <p:nvSpPr>
          <p:cNvPr id="4" name="Text Box 3"/>
          <p:cNvSpPr txBox="1"/>
          <p:nvPr/>
        </p:nvSpPr>
        <p:spPr>
          <a:xfrm>
            <a:off x="914400" y="2139950"/>
            <a:ext cx="6729730" cy="404495"/>
          </a:xfrm>
          <a:prstGeom prst="rect">
            <a:avLst/>
          </a:prstGeom>
          <a:noFill/>
        </p:spPr>
        <p:txBody>
          <a:bodyPr wrap="square" rtlCol="0">
            <a:noAutofit/>
          </a:bodyPr>
          <a:p>
            <a:pPr marL="285750" indent="-285750">
              <a:buFont typeface="Arial" panose="020B0604020202020204" pitchFamily="34" charset="0"/>
              <a:buChar char="•"/>
            </a:pPr>
            <a:r>
              <a:rPr lang="en-US" dirty="0">
                <a:solidFill>
                  <a:srgbClr val="424242">
                    <a:alpha val="100000"/>
                  </a:srgbClr>
                </a:solidFill>
                <a:latin typeface="Times New Roman" panose="02020603050405020304"/>
                <a:sym typeface="+mn-ea"/>
              </a:rPr>
              <a:t>To facilitate easy Barrowing of books, display, and return of books.
</a:t>
            </a:r>
            <a:endParaRPr lang="en-US"/>
          </a:p>
        </p:txBody>
      </p:sp>
      <p:sp>
        <p:nvSpPr>
          <p:cNvPr id="5" name="Text Box 4"/>
          <p:cNvSpPr txBox="1"/>
          <p:nvPr/>
        </p:nvSpPr>
        <p:spPr>
          <a:xfrm>
            <a:off x="914400" y="2571750"/>
            <a:ext cx="6529070" cy="645160"/>
          </a:xfrm>
          <a:prstGeom prst="rect">
            <a:avLst/>
          </a:prstGeom>
          <a:noFill/>
        </p:spPr>
        <p:txBody>
          <a:bodyPr wrap="square" rtlCol="0">
            <a:spAutoFit/>
          </a:bodyPr>
          <a:p>
            <a:pPr marL="285750" indent="-285750">
              <a:buFont typeface="Arial" panose="020B0604020202020204" pitchFamily="34" charset="0"/>
              <a:buChar char="•"/>
            </a:pPr>
            <a:r>
              <a:rPr lang="en-US" dirty="0">
                <a:solidFill>
                  <a:srgbClr val="424242">
                    <a:alpha val="100000"/>
                  </a:srgbClr>
                </a:solidFill>
                <a:latin typeface="Times New Roman" panose="02020603050405020304"/>
                <a:sym typeface="+mn-ea"/>
              </a:rPr>
              <a:t>To ensure efficient management of book resources.</a:t>
            </a:r>
            <a:endParaRPr lang="en-US" u="none" strike="noStrike" cap="none" spc="0" dirty="0">
              <a:solidFill>
                <a:srgbClr val="424242">
                  <a:alpha val="100000"/>
                </a:srgbClr>
              </a:solidFill>
              <a:latin typeface="Times New Roman" panose="02020603050405020304"/>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TextBox 1"/>
          <p:cNvSpPr txBox="1"/>
          <p:nvPr/>
        </p:nvSpPr>
        <p:spPr>
          <a:xfrm>
            <a:off x="914400" y="37150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a:rPr>
              <a:t>Scope and Limitations</a:t>
            </a:r>
            <a:endParaRPr lang="en-US" sz="2800" b="1" u="none" strike="noStrike" cap="none" spc="0" dirty="0">
              <a:solidFill>
                <a:srgbClr val="121212">
                  <a:alpha val="100000"/>
                </a:srgbClr>
              </a:solidFill>
              <a:latin typeface="Times New Roman" panose="02020603050405020304"/>
            </a:endParaRPr>
          </a:p>
        </p:txBody>
      </p:sp>
      <p:sp>
        <p:nvSpPr>
          <p:cNvPr id="3" name="TextBox 2"/>
          <p:cNvSpPr txBox="1"/>
          <p:nvPr/>
        </p:nvSpPr>
        <p:spPr>
          <a:xfrm>
            <a:off x="914400" y="841811"/>
            <a:ext cx="7315200" cy="3170099"/>
          </a:xfrm>
          <a:prstGeom prst="rect">
            <a:avLst/>
          </a:prstGeom>
          <a:noFill/>
        </p:spPr>
        <p:txBody>
          <a:bodyPr vert="horz" lIns="91440" tIns="45720" rIns="91440" bIns="45720" rtlCol="0" anchorCtr="0">
            <a:spAutoFit/>
          </a:bodyPr>
          <a:lstStyle/>
          <a:p>
            <a:pPr algn="just"/>
            <a:r>
              <a:rPr lang="en-US" sz="2000" dirty="0">
                <a:latin typeface="Times New Roman" panose="02020603050405020304" pitchFamily="18" charset="0"/>
                <a:cs typeface="Times New Roman" panose="02020603050405020304" pitchFamily="18" charset="0"/>
              </a:rPr>
              <a:t>The project is a straightforward library management system designed for students to create accounts, log in, and borrow books. The system focuses on:</a:t>
            </a:r>
            <a:endParaRPr lang="en-US" sz="2000" dirty="0">
              <a:latin typeface="Times New Roman" panose="02020603050405020304" pitchFamily="18" charset="0"/>
              <a:cs typeface="Times New Roman" panose="02020603050405020304" pitchFamily="18" charset="0"/>
            </a:endParaRPr>
          </a:p>
          <a:p>
            <a:pPr algn="just">
              <a:buFont typeface="+mj-lt"/>
              <a:buAutoNum type="arabicPeriod"/>
            </a:pPr>
            <a:r>
              <a:rPr lang="en-US" sz="2000" b="1" dirty="0">
                <a:latin typeface="Times New Roman" panose="02020603050405020304" pitchFamily="18" charset="0"/>
                <a:cs typeface="Times New Roman" panose="02020603050405020304" pitchFamily="18" charset="0"/>
              </a:rPr>
              <a:t>Account Management</a:t>
            </a:r>
            <a:r>
              <a:rPr lang="en-US" sz="2000" dirty="0">
                <a:latin typeface="Times New Roman" panose="02020603050405020304" pitchFamily="18" charset="0"/>
                <a:cs typeface="Times New Roman" panose="02020603050405020304" pitchFamily="18" charset="0"/>
              </a:rPr>
              <a:t>: Students can create accounts using their names, student ID numbers, and passwords.</a:t>
            </a:r>
            <a:endParaRPr lang="en-US" sz="2000" dirty="0">
              <a:latin typeface="Times New Roman" panose="02020603050405020304" pitchFamily="18" charset="0"/>
              <a:cs typeface="Times New Roman" panose="02020603050405020304" pitchFamily="18" charset="0"/>
            </a:endParaRPr>
          </a:p>
          <a:p>
            <a:pPr algn="just">
              <a:buFont typeface="+mj-lt"/>
              <a:buAutoNum type="arabicPeriod"/>
            </a:pPr>
            <a:r>
              <a:rPr lang="en-US" sz="2000" b="1" dirty="0">
                <a:latin typeface="Times New Roman" panose="02020603050405020304" pitchFamily="18" charset="0"/>
                <a:cs typeface="Times New Roman" panose="02020603050405020304" pitchFamily="18" charset="0"/>
              </a:rPr>
              <a:t>Login System</a:t>
            </a:r>
            <a:r>
              <a:rPr lang="en-US" sz="2000" dirty="0">
                <a:latin typeface="Times New Roman" panose="02020603050405020304" pitchFamily="18" charset="0"/>
                <a:cs typeface="Times New Roman" panose="02020603050405020304" pitchFamily="18" charset="0"/>
              </a:rPr>
              <a:t>: Students can log in using their Student ID numbers and passwords.</a:t>
            </a:r>
            <a:endParaRPr lang="en-US" sz="2000" dirty="0">
              <a:latin typeface="Times New Roman" panose="02020603050405020304" pitchFamily="18" charset="0"/>
              <a:cs typeface="Times New Roman" panose="02020603050405020304" pitchFamily="18" charset="0"/>
            </a:endParaRPr>
          </a:p>
          <a:p>
            <a:pPr algn="just">
              <a:buFont typeface="+mj-lt"/>
              <a:buAutoNum type="arabicPeriod"/>
            </a:pPr>
            <a:r>
              <a:rPr lang="en-US" sz="2000" b="1" dirty="0">
                <a:latin typeface="Times New Roman" panose="02020603050405020304" pitchFamily="18" charset="0"/>
                <a:cs typeface="Times New Roman" panose="02020603050405020304" pitchFamily="18" charset="0"/>
              </a:rPr>
              <a:t>Book Borrowing</a:t>
            </a:r>
            <a:r>
              <a:rPr lang="en-US" sz="2000" dirty="0">
                <a:latin typeface="Times New Roman" panose="02020603050405020304" pitchFamily="18" charset="0"/>
                <a:cs typeface="Times New Roman" panose="02020603050405020304" pitchFamily="18" charset="0"/>
              </a:rPr>
              <a:t>: Students can view a list of available books and borrow one book at a time, with borrowed books marked as unavailable.</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TextBox 1"/>
          <p:cNvSpPr txBox="1"/>
          <p:nvPr/>
        </p:nvSpPr>
        <p:spPr>
          <a:xfrm>
            <a:off x="914400" y="37150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a:rPr>
              <a:t>Scope and Limitations</a:t>
            </a:r>
            <a:endParaRPr lang="en-US" sz="2800" b="1" u="none" strike="noStrike" cap="none" spc="0" dirty="0">
              <a:solidFill>
                <a:srgbClr val="121212">
                  <a:alpha val="100000"/>
                </a:srgbClr>
              </a:solidFill>
              <a:latin typeface="Times New Roman" panose="02020603050405020304"/>
            </a:endParaRPr>
          </a:p>
        </p:txBody>
      </p:sp>
      <p:sp>
        <p:nvSpPr>
          <p:cNvPr id="3" name="TextBox 2"/>
          <p:cNvSpPr txBox="1"/>
          <p:nvPr/>
        </p:nvSpPr>
        <p:spPr>
          <a:xfrm>
            <a:off x="683568" y="915566"/>
            <a:ext cx="7315200" cy="2246769"/>
          </a:xfrm>
          <a:prstGeom prst="rect">
            <a:avLst/>
          </a:prstGeom>
          <a:noFill/>
        </p:spPr>
        <p:txBody>
          <a:bodyPr vert="horz" wrap="square" lIns="91440" tIns="45720" rIns="91440" bIns="45720" rtlCol="0" anchorCtr="0">
            <a:spAutoFit/>
          </a:bodyPr>
          <a:lstStyle/>
          <a:p>
            <a:r>
              <a:rPr lang="en-US" sz="2000" b="1" dirty="0"/>
              <a:t>Limitations</a:t>
            </a:r>
            <a:r>
              <a:rPr lang="en-US" sz="2000" dirty="0"/>
              <a:t>:</a:t>
            </a:r>
            <a:endParaRPr lang="en-US" sz="2000" dirty="0"/>
          </a:p>
          <a:p>
            <a:pPr>
              <a:buFont typeface="Arial" panose="020B0604020202020204" pitchFamily="34" charset="0"/>
              <a:buChar char="•"/>
            </a:pPr>
            <a:r>
              <a:rPr lang="en-US" sz="2000" dirty="0"/>
              <a:t>Manages up to 100 books.</a:t>
            </a:r>
            <a:endParaRPr lang="en-US" sz="2000" dirty="0"/>
          </a:p>
          <a:p>
            <a:pPr>
              <a:buFont typeface="Arial" panose="020B0604020202020204" pitchFamily="34" charset="0"/>
              <a:buChar char="•"/>
            </a:pPr>
            <a:r>
              <a:rPr lang="en-US" sz="2000" dirty="0"/>
              <a:t>Lacks advanced error handling.</a:t>
            </a:r>
            <a:endParaRPr lang="en-US" sz="2000" dirty="0"/>
          </a:p>
          <a:p>
            <a:pPr>
              <a:buFont typeface="Arial" panose="020B0604020202020204" pitchFamily="34" charset="0"/>
              <a:buChar char="•"/>
            </a:pPr>
            <a:r>
              <a:rPr lang="en-US" sz="2000" dirty="0"/>
              <a:t>Does not save data permanently.</a:t>
            </a:r>
            <a:endParaRPr lang="en-US" sz="2000" dirty="0"/>
          </a:p>
          <a:p>
            <a:pPr>
              <a:buFont typeface="Arial" panose="020B0604020202020204" pitchFamily="34" charset="0"/>
              <a:buChar char="•"/>
            </a:pPr>
            <a:r>
              <a:rPr lang="en-US" sz="2000" dirty="0"/>
              <a:t>Does not support adding new books.</a:t>
            </a:r>
            <a:endParaRPr lang="en-US" sz="2000" dirty="0"/>
          </a:p>
          <a:p>
            <a:pPr>
              <a:buFont typeface="Arial" panose="020B0604020202020204" pitchFamily="34" charset="0"/>
              <a:buChar char="•"/>
            </a:pPr>
            <a:r>
              <a:rPr lang="en-US" sz="2000" dirty="0"/>
              <a:t>Lacks features like sorting, advanced searches, or book categorization.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06285" y="437437"/>
            <a:ext cx="7315200" cy="400110"/>
          </a:xfrm>
          <a:prstGeom prst="rect">
            <a:avLst/>
          </a:prstGeom>
          <a:noFill/>
        </p:spPr>
        <p:txBody>
          <a:bodyPr vert="horz" lIns="91440" tIns="45720" rIns="91440" bIns="45720" rtlCol="0" anchor="t" anchorCtr="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fontAlgn="t">
              <a:lnSpc>
                <a:spcPct val="100000"/>
              </a:lnSpc>
              <a:spcBef>
                <a:spcPts val="0"/>
              </a:spcBef>
              <a:spcAft>
                <a:spcPts val="0"/>
              </a:spcAft>
            </a:pPr>
            <a:r>
              <a:rPr lang="en-US" sz="2000" b="1" dirty="0">
                <a:solidFill>
                  <a:srgbClr val="121212">
                    <a:alpha val="100000"/>
                  </a:srgbClr>
                </a:solidFill>
                <a:latin typeface="Times New Roman" panose="02020603050405020304"/>
              </a:rPr>
              <a:t>CHAPTER 2</a:t>
            </a:r>
            <a:endParaRPr lang="en-US" sz="2000" b="1" dirty="0">
              <a:solidFill>
                <a:srgbClr val="121212">
                  <a:alpha val="100000"/>
                </a:srgbClr>
              </a:solidFill>
              <a:latin typeface="Times New Roman" panose="02020603050405020304"/>
            </a:endParaRPr>
          </a:p>
        </p:txBody>
      </p:sp>
      <p:sp>
        <p:nvSpPr>
          <p:cNvPr id="3" name="TextBox 2"/>
          <p:cNvSpPr txBox="1"/>
          <p:nvPr/>
        </p:nvSpPr>
        <p:spPr>
          <a:xfrm>
            <a:off x="937323" y="1219574"/>
            <a:ext cx="7315200" cy="831318"/>
          </a:xfrm>
          <a:prstGeom prst="rect">
            <a:avLst/>
          </a:prstGeom>
          <a:noFill/>
        </p:spPr>
        <p:txBody>
          <a:bodyPr vert="horz" lIns="91440" tIns="45720" rIns="91440" bIns="45720" rtlCol="0" anchorCtr="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lvl="0" indent="-342900">
              <a:lnSpc>
                <a:spcPct val="107000"/>
              </a:lnSpc>
              <a:spcAft>
                <a:spcPts val="800"/>
              </a:spcAft>
              <a:buSzPts val="1000"/>
              <a:buFont typeface="Symbol" panose="05050102010706020507" pitchFamily="18" charset="2"/>
              <a:buChar char=""/>
              <a:tabLst>
                <a:tab pos="457200" algn="l"/>
              </a:tabLs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Allows user registration and login as the main features.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Enables the collection of virtual books.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7"/>
          <p:cNvSpPr txBox="1"/>
          <p:nvPr/>
        </p:nvSpPr>
        <p:spPr>
          <a:xfrm>
            <a:off x="906285" y="797477"/>
            <a:ext cx="7315200" cy="522259"/>
          </a:xfrm>
          <a:prstGeom prst="rect">
            <a:avLst/>
          </a:prstGeom>
          <a:noFill/>
        </p:spPr>
        <p:txBody>
          <a:bodyPr vert="horz" lIns="91440" tIns="45720" rIns="91440" bIns="45720" rtlCol="0" anchor="t" anchorCtr="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lnSpc>
                <a:spcPct val="107000"/>
              </a:lnSpc>
              <a:spcAft>
                <a:spcPts val="800"/>
              </a:spcAft>
            </a:pPr>
            <a:r>
              <a:rPr lang="en-PH" sz="2800" b="1" kern="100" dirty="0">
                <a:effectLst/>
                <a:latin typeface="Times New Roman" panose="02020603050405020304" pitchFamily="18" charset="0"/>
                <a:ea typeface="Calibri" panose="020F0502020204030204" pitchFamily="34" charset="0"/>
                <a:cs typeface="Times New Roman" panose="02020603050405020304" pitchFamily="18" charset="0"/>
              </a:rPr>
              <a:t>Code Purpose</a:t>
            </a:r>
            <a:endParaRPr lang="en-PH" sz="28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TextBox 8"/>
          <p:cNvSpPr txBox="1"/>
          <p:nvPr/>
        </p:nvSpPr>
        <p:spPr>
          <a:xfrm>
            <a:off x="611560" y="1995686"/>
            <a:ext cx="3960440" cy="3341749"/>
          </a:xfrm>
          <a:prstGeom prst="rect">
            <a:avLst/>
          </a:prstGeom>
          <a:noFill/>
        </p:spPr>
        <p:txBody>
          <a:bodyPr vert="horz" wrap="square" lIns="91440" tIns="45720" rIns="91440" bIns="45720" rtlCol="0" anchorCtr="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lnSpc>
                <a:spcPct val="107000"/>
              </a:lnSpc>
              <a:spcAft>
                <a:spcPts val="800"/>
              </a:spcAf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The library management system is built around several key concepts: </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User Management: Users can create accounts and log in using their credentials.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Book Management: The system maintains a list of books, tracking their availability for borrowing. </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07000"/>
              </a:lnSpc>
              <a:spcAft>
                <a:spcPts val="800"/>
              </a:spcAft>
              <a:buSzPts val="1000"/>
              <a:buFont typeface="Arial" panose="020B0604020202020204" pitchFamily="34" charset="0"/>
              <a:buChar char="•"/>
              <a:tabLst>
                <a:tab pos="457200" algn="l"/>
              </a:tabLst>
            </a:pP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TextBox 8"/>
          <p:cNvSpPr txBox="1"/>
          <p:nvPr/>
        </p:nvSpPr>
        <p:spPr>
          <a:xfrm>
            <a:off x="4860032" y="2067694"/>
            <a:ext cx="3960440" cy="3208507"/>
          </a:xfrm>
          <a:prstGeom prst="rect">
            <a:avLst/>
          </a:prstGeom>
          <a:noFill/>
        </p:spPr>
        <p:txBody>
          <a:bodyPr vert="horz" wrap="square" lIns="91440" tIns="45720" rIns="91440" bIns="45720" rtlCol="0" anchorCtr="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indent="-34290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Data Structures: The use of structures (User and Book) to encapsulate user and book information. </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Control Flow: The program utilizes loops and conditionals to manage user interactions and system operations.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07000"/>
              </a:lnSpc>
              <a:spcAft>
                <a:spcPts val="800"/>
              </a:spcAft>
              <a:buSzPts val="1000"/>
              <a:buFont typeface="Arial" panose="020B0604020202020204" pitchFamily="34" charset="0"/>
              <a:buChar char="•"/>
              <a:tabLst>
                <a:tab pos="457200" algn="l"/>
              </a:tabLst>
            </a:pP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25096" y="1491630"/>
            <a:ext cx="7315200" cy="1695144"/>
          </a:xfrm>
          <a:prstGeom prst="rect">
            <a:avLst/>
          </a:prstGeom>
          <a:noFill/>
        </p:spPr>
        <p:txBody>
          <a:bodyPr vert="horz" lIns="91440" tIns="45720" rIns="91440" bIns="45720" rtlCol="0" anchorCtr="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nSpc>
                <a:spcPct val="107000"/>
              </a:lnSpc>
              <a:spcAft>
                <a:spcPts val="800"/>
              </a:spcAft>
              <a:buSzPts val="1000"/>
              <a:buFont typeface="Arial" panose="020B0604020202020204" pitchFamily="34" charset="0"/>
              <a:buChar char="•"/>
              <a:tabLst>
                <a:tab pos="457200" algn="l"/>
              </a:tabLst>
            </a:pPr>
            <a:r>
              <a:rPr lang="en-PH" sz="20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 Input/output functions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07000"/>
              </a:lnSpc>
              <a:spcAft>
                <a:spcPts val="800"/>
              </a:spcAft>
              <a:buSzPts val="1000"/>
              <a:buFont typeface="Arial" panose="020B0604020202020204" pitchFamily="34" charset="0"/>
              <a:buChar char="•"/>
              <a:tabLst>
                <a:tab pos="457200" algn="l"/>
              </a:tabLst>
            </a:pPr>
            <a:r>
              <a:rPr lang="en-PH" sz="2000" kern="100" dirty="0" err="1">
                <a:effectLst/>
                <a:latin typeface="Times New Roman" panose="02020603050405020304" pitchFamily="18" charset="0"/>
                <a:ea typeface="Calibri" panose="020F0502020204030204" pitchFamily="34" charset="0"/>
                <a:cs typeface="Times New Roman" panose="02020603050405020304" pitchFamily="18" charset="0"/>
              </a:rPr>
              <a:t>stdlib.h</a:t>
            </a: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 System utilities.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07000"/>
              </a:lnSpc>
              <a:spcAft>
                <a:spcPts val="800"/>
              </a:spcAft>
              <a:buSzPts val="1000"/>
              <a:buFont typeface="Arial" panose="020B0604020202020204" pitchFamily="34" charset="0"/>
              <a:buChar char="•"/>
              <a:tabLst>
                <a:tab pos="457200" algn="l"/>
              </a:tabLst>
            </a:pPr>
            <a:r>
              <a:rPr lang="en-PH" sz="2000" kern="100" dirty="0" err="1">
                <a:effectLst/>
                <a:latin typeface="Times New Roman" panose="02020603050405020304" pitchFamily="18" charset="0"/>
                <a:ea typeface="Calibri" panose="020F0502020204030204" pitchFamily="34" charset="0"/>
                <a:cs typeface="Times New Roman" panose="02020603050405020304" pitchFamily="18" charset="0"/>
              </a:rPr>
              <a:t>string.h</a:t>
            </a: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 String manipulation functions.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07000"/>
              </a:lnSpc>
              <a:spcAft>
                <a:spcPts val="800"/>
              </a:spcAft>
              <a:buSzPts val="1000"/>
              <a:buFont typeface="Arial" panose="020B0604020202020204" pitchFamily="34" charset="0"/>
              <a:buChar char="•"/>
              <a:tabLst>
                <a:tab pos="457200" algn="l"/>
              </a:tabLs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Macros: </a:t>
            </a:r>
            <a:r>
              <a:rPr lang="en-PH" sz="2000" kern="100" dirty="0" err="1">
                <a:effectLst/>
                <a:latin typeface="Times New Roman" panose="02020603050405020304" pitchFamily="18" charset="0"/>
                <a:ea typeface="Calibri" panose="020F0502020204030204" pitchFamily="34" charset="0"/>
                <a:cs typeface="Times New Roman" panose="02020603050405020304" pitchFamily="18" charset="0"/>
              </a:rPr>
              <a:t>MaxUser</a:t>
            </a: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PH" sz="2000" kern="100" dirty="0" err="1">
                <a:effectLst/>
                <a:latin typeface="Times New Roman" panose="02020603050405020304" pitchFamily="18" charset="0"/>
                <a:ea typeface="Calibri" panose="020F0502020204030204" pitchFamily="34" charset="0"/>
                <a:cs typeface="Times New Roman" panose="02020603050405020304" pitchFamily="18" charset="0"/>
              </a:rPr>
              <a:t>MaxBooks</a:t>
            </a: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7"/>
          <p:cNvSpPr txBox="1"/>
          <p:nvPr/>
        </p:nvSpPr>
        <p:spPr>
          <a:xfrm>
            <a:off x="1043608" y="976686"/>
            <a:ext cx="7315200" cy="522259"/>
          </a:xfrm>
          <a:prstGeom prst="rect">
            <a:avLst/>
          </a:prstGeom>
          <a:noFill/>
        </p:spPr>
        <p:txBody>
          <a:bodyPr vert="horz" lIns="91440" tIns="45720" rIns="91440" bIns="45720" rtlCol="0" anchor="t" anchorCtr="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lnSpc>
                <a:spcPct val="107000"/>
              </a:lnSpc>
              <a:spcAft>
                <a:spcPts val="800"/>
              </a:spcAft>
            </a:pPr>
            <a:r>
              <a:rPr lang="en-PH" sz="2800" b="1" kern="100" dirty="0">
                <a:effectLst/>
                <a:latin typeface="Times New Roman" panose="02020603050405020304" pitchFamily="18" charset="0"/>
                <a:ea typeface="Calibri" panose="020F0502020204030204" pitchFamily="34" charset="0"/>
                <a:cs typeface="Times New Roman" panose="02020603050405020304" pitchFamily="18" charset="0"/>
              </a:rPr>
              <a:t>Header Files and Macros:</a:t>
            </a:r>
            <a:endParaRPr lang="en-PH" sz="2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019425"/>
          <a:chOff x="914400" y="1028700"/>
          <a:chExt cx="8229600" cy="3019425"/>
        </a:xfrm>
      </p:grpSpPr>
      <p:sp>
        <p:nvSpPr>
          <p:cNvPr id="2" name="TextBox 1"/>
          <p:cNvSpPr txBox="1"/>
          <p:nvPr/>
        </p:nvSpPr>
        <p:spPr>
          <a:xfrm>
            <a:off x="1115616" y="555526"/>
            <a:ext cx="7315200" cy="52322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pitchFamily="18" charset="0"/>
                <a:cs typeface="Times New Roman" panose="02020603050405020304" pitchFamily="18" charset="0"/>
              </a:rPr>
              <a:t>Main Functionality</a:t>
            </a:r>
            <a:endParaRPr lang="en-US" sz="2800" b="1" u="none" strike="noStrike" cap="none" spc="0" dirty="0">
              <a:solidFill>
                <a:srgbClr val="121212">
                  <a:alpha val="100000"/>
                </a:srgb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914400" y="1059582"/>
            <a:ext cx="7834064" cy="831318"/>
          </a:xfrm>
          <a:prstGeom prst="rect">
            <a:avLst/>
          </a:prstGeom>
          <a:noFill/>
        </p:spPr>
        <p:txBody>
          <a:bodyPr vert="horz" wrap="square" lIns="91440" tIns="45720" rIns="91440" bIns="45720" rtlCol="0" anchorCtr="0">
            <a:spAutoFit/>
          </a:bodyPr>
          <a:lstStyle/>
          <a:p>
            <a:pPr marL="342900" marR="0" lvl="0" indent="-342900">
              <a:lnSpc>
                <a:spcPct val="107000"/>
              </a:lnSpc>
              <a:spcAft>
                <a:spcPts val="800"/>
              </a:spcAft>
              <a:buSzPts val="1000"/>
              <a:buFont typeface="Symbol" panose="05050102010706020507" pitchFamily="18" charset="2"/>
              <a:buChar char=""/>
              <a:tabLst>
                <a:tab pos="457200" algn="l"/>
              </a:tabLs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Pre-login Phase: User validation (account creation, login).</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Post-login Phase: Book management (</a:t>
            </a:r>
            <a:r>
              <a:rPr lang="en-PH" sz="2000" kern="100" dirty="0">
                <a:latin typeface="Times New Roman" panose="02020603050405020304" pitchFamily="18" charset="0"/>
                <a:ea typeface="Calibri" panose="020F0502020204030204" pitchFamily="34" charset="0"/>
                <a:cs typeface="Times New Roman" panose="02020603050405020304" pitchFamily="18" charset="0"/>
              </a:rPr>
              <a:t>Barrow a book,</a:t>
            </a: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800" u="none" strike="noStrike" cap="none" spc="0" dirty="0">
              <a:solidFill>
                <a:srgbClr val="424242">
                  <a:alpha val="100000"/>
                </a:srgbClr>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641176" y="2283718"/>
            <a:ext cx="7315200" cy="2558970"/>
          </a:xfrm>
          <a:prstGeom prst="rect">
            <a:avLst/>
          </a:prstGeom>
          <a:noFill/>
        </p:spPr>
        <p:txBody>
          <a:bodyPr vert="horz" lIns="91440" tIns="45720" rIns="91440" bIns="45720" rtlCol="0" anchorCtr="0">
            <a:spAutoFit/>
          </a:bodyPr>
          <a:lstStyle/>
          <a:p>
            <a:pPr marL="514350" marR="0" indent="-28575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Add Book: Bring new books to the collection.</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514350" marR="0" indent="-28575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Display Books: Watch all saved books.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514350" marR="0" indent="-28575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List Books by Author: Hunt for books by specific authors.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514350" marR="0" indent="-28575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Count Books: Find the total number of books.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514350" marR="0" indent="-28575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Remove Book: Erase books by index.</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514350" marR="0" indent="-285750">
              <a:lnSpc>
                <a:spcPct val="107000"/>
              </a:lnSpc>
              <a:spcAft>
                <a:spcPts val="800"/>
              </a:spcAft>
              <a:buFont typeface="Arial" panose="020B0604020202020204" pitchFamily="34" charset="0"/>
              <a:buChar char="•"/>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Exit Program: Securely stop the program.</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p:cNvSpPr txBox="1"/>
          <p:nvPr/>
        </p:nvSpPr>
        <p:spPr>
          <a:xfrm>
            <a:off x="1187624" y="1779662"/>
            <a:ext cx="7315200" cy="532903"/>
          </a:xfrm>
          <a:prstGeom prst="rect">
            <a:avLst/>
          </a:prstGeom>
          <a:noFill/>
        </p:spPr>
        <p:txBody>
          <a:bodyPr vert="horz" lIns="91440" tIns="45720" rIns="91440" bIns="45720" rtlCol="0" anchor="t" anchorCtr="0">
            <a:spAutoFit/>
          </a:bodyPr>
          <a:lstStyle/>
          <a:p>
            <a:pPr marL="0" marR="0">
              <a:lnSpc>
                <a:spcPct val="107000"/>
              </a:lnSpc>
              <a:spcAft>
                <a:spcPts val="800"/>
              </a:spcAft>
            </a:pPr>
            <a:r>
              <a:rPr lang="en-PH" sz="2800" b="1" kern="100" dirty="0">
                <a:effectLst/>
                <a:latin typeface="Times New Roman" panose="02020603050405020304" pitchFamily="18" charset="0"/>
                <a:ea typeface="Calibri" panose="020F0502020204030204" pitchFamily="34" charset="0"/>
                <a:cs typeface="Times New Roman" panose="02020603050405020304" pitchFamily="18" charset="0"/>
              </a:rPr>
              <a:t>Pre-Login Phase</a:t>
            </a:r>
            <a:endParaRPr lang="en-PH" sz="2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019425"/>
          <a:chOff x="914400" y="1028700"/>
          <a:chExt cx="8229600" cy="3019425"/>
        </a:xfrm>
      </p:grpSpPr>
      <p:sp>
        <p:nvSpPr>
          <p:cNvPr id="2" name="TextBox 1"/>
          <p:cNvSpPr txBox="1"/>
          <p:nvPr/>
        </p:nvSpPr>
        <p:spPr>
          <a:xfrm>
            <a:off x="914400" y="1059582"/>
            <a:ext cx="7315200" cy="52322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pitchFamily="18" charset="0"/>
                <a:cs typeface="Times New Roman" panose="02020603050405020304" pitchFamily="18" charset="0"/>
              </a:rPr>
              <a:t>Code Strengths</a:t>
            </a:r>
            <a:endParaRPr lang="en-US" sz="2800" b="1" u="none" strike="noStrike" cap="none" spc="0" dirty="0">
              <a:solidFill>
                <a:srgbClr val="121212">
                  <a:alpha val="100000"/>
                </a:srgb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971600" y="1645239"/>
            <a:ext cx="7315200" cy="3170099"/>
          </a:xfrm>
          <a:prstGeom prst="rect">
            <a:avLst/>
          </a:prstGeom>
          <a:noFill/>
        </p:spPr>
        <p:txBody>
          <a:bodyPr vert="horz" lIns="91440" tIns="45720" rIns="91440" bIns="45720" rtlCol="0" anchorCtr="0">
            <a:spAutoFit/>
          </a:bodyPr>
          <a:lstStyle/>
          <a:p>
            <a:pPr marL="285750" marR="0" lvl="0" indent="-285750" algn="just" rtl="0" fontAlgn="base">
              <a:lnSpc>
                <a:spcPct val="100000"/>
              </a:lnSpc>
              <a:spcBef>
                <a:spcPts val="0"/>
              </a:spcBef>
              <a:spcAft>
                <a:spcPts val="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Use basic user authentication with a Student ID number and password.</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gn="just" rtl="0" fontAlgn="base">
              <a:lnSpc>
                <a:spcPct val="100000"/>
              </a:lnSpc>
              <a:spcBef>
                <a:spcPts val="0"/>
              </a:spcBef>
              <a:spcAft>
                <a:spcPts val="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Menu-driven design for easy navigation.</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gn="just" rtl="0" fontAlgn="base">
              <a:lnSpc>
                <a:spcPct val="100000"/>
              </a:lnSpc>
              <a:spcBef>
                <a:spcPts val="0"/>
              </a:spcBef>
              <a:spcAft>
                <a:spcPts val="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Dynamic book management</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gn="just" rtl="0" fontAlgn="base">
              <a:lnSpc>
                <a:spcPct val="100000"/>
              </a:lnSpc>
              <a:spcBef>
                <a:spcPts val="0"/>
              </a:spcBef>
              <a:spcAft>
                <a:spcPts val="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Book Availability Management Books have a status (</a:t>
            </a:r>
            <a:r>
              <a:rPr lang="en-US" sz="2000" kern="100" dirty="0" err="1">
                <a:effectLst/>
                <a:latin typeface="Times New Roman" panose="02020603050405020304" pitchFamily="18" charset="0"/>
                <a:ea typeface="Calibri" panose="020F0502020204030204" pitchFamily="34" charset="0"/>
                <a:cs typeface="Times New Roman" panose="02020603050405020304" pitchFamily="18" charset="0"/>
              </a:rPr>
              <a:t>isAvailable</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that ensures only available books can be borrowed. This helps in proper inventory tracking.</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gn="just" rtl="0" fontAlgn="base">
              <a:lnSpc>
                <a:spcPct val="100000"/>
              </a:lnSpc>
              <a:spcBef>
                <a:spcPts val="0"/>
              </a:spcBef>
              <a:spcAft>
                <a:spcPts val="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Input Validation The program includes input validation for login credentials and book selection during borrowing.</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gn="just" rtl="0" fontAlgn="base">
              <a:lnSpc>
                <a:spcPct val="100000"/>
              </a:lnSpc>
              <a:spcBef>
                <a:spcPts val="0"/>
              </a:spcBef>
              <a:spcAft>
                <a:spcPts val="0"/>
              </a:spcAft>
              <a:buFont typeface="Arial" panose="020B0604020202020204" pitchFamily="34" charset="0"/>
              <a:buChar char="•"/>
            </a:pP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59582"/>
            <a:ext cx="7315200" cy="523220"/>
          </a:xfrm>
          <a:prstGeom prst="rect">
            <a:avLst/>
          </a:prstGeom>
          <a:noFill/>
        </p:spPr>
        <p:txBody>
          <a:bodyPr vert="horz" lIns="91440" tIns="45720" rIns="91440" bIns="45720" rtlCol="0" anchor="t" anchorCtr="0">
            <a:spAutoFit/>
          </a:bodyPr>
          <a:lstStyle/>
          <a:p>
            <a:r>
              <a:rPr lang="en-US" sz="2800" b="1" dirty="0"/>
              <a:t>Purpose of the Flow Chart</a:t>
            </a:r>
            <a:endParaRPr lang="en-US" sz="2800" b="1" dirty="0"/>
          </a:p>
        </p:txBody>
      </p:sp>
      <p:sp>
        <p:nvSpPr>
          <p:cNvPr id="3" name="TextBox 2"/>
          <p:cNvSpPr txBox="1"/>
          <p:nvPr/>
        </p:nvSpPr>
        <p:spPr>
          <a:xfrm>
            <a:off x="914400" y="1800225"/>
            <a:ext cx="7315200" cy="1938992"/>
          </a:xfrm>
          <a:prstGeom prst="rect">
            <a:avLst/>
          </a:prstGeom>
          <a:noFill/>
        </p:spPr>
        <p:txBody>
          <a:bodyPr vert="horz" lIns="91440" tIns="45720" rIns="91440" bIns="45720" rtlCol="0" anchorCtr="0">
            <a:spAutoFit/>
          </a:bodyPr>
          <a:lstStyle/>
          <a:p>
            <a:pPr algn="just">
              <a:buFont typeface="Arial" panose="020B0604020202020204" pitchFamily="34" charset="0"/>
              <a:buChar char="•"/>
            </a:pPr>
            <a:r>
              <a:rPr lang="en-US" sz="2000" b="1" dirty="0"/>
              <a:t>Graphical Presentation</a:t>
            </a:r>
            <a:r>
              <a:rPr lang="en-US" sz="2000" dirty="0"/>
              <a:t>: Visual representation of the Automated Library System's processes.</a:t>
            </a:r>
            <a:endParaRPr lang="en-US" sz="2000" dirty="0"/>
          </a:p>
          <a:p>
            <a:pPr algn="just">
              <a:buFont typeface="Arial" panose="020B0604020202020204" pitchFamily="34" charset="0"/>
              <a:buChar char="•"/>
            </a:pPr>
            <a:r>
              <a:rPr lang="en-US" sz="2000" b="1" dirty="0"/>
              <a:t>Sequence Explanation</a:t>
            </a:r>
            <a:r>
              <a:rPr lang="en-US" sz="2000" dirty="0"/>
              <a:t>: Details the sequence of tasks and decisions in library operations.</a:t>
            </a:r>
            <a:endParaRPr lang="en-US" sz="2000" dirty="0"/>
          </a:p>
          <a:p>
            <a:pPr algn="just">
              <a:buFont typeface="Arial" panose="020B0604020202020204" pitchFamily="34" charset="0"/>
              <a:buChar char="•"/>
            </a:pPr>
            <a:r>
              <a:rPr lang="en-US" sz="2000" b="1" dirty="0"/>
              <a:t>Simplifies Complexity</a:t>
            </a:r>
            <a:r>
              <a:rPr lang="en-US" sz="2000" dirty="0"/>
              <a:t>: Makes complex processes easier to understand and digest for readers.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59582"/>
            <a:ext cx="7315200" cy="523220"/>
          </a:xfrm>
          <a:prstGeom prst="rect">
            <a:avLst/>
          </a:prstGeom>
          <a:noFill/>
        </p:spPr>
        <p:txBody>
          <a:bodyPr vert="horz" lIns="91440" tIns="45720" rIns="91440" bIns="45720" rtlCol="0" anchor="t" anchorCtr="0">
            <a:spAutoFit/>
          </a:bodyPr>
          <a:lstStyle/>
          <a:p>
            <a:r>
              <a:rPr lang="en-US" sz="2800" b="1" dirty="0"/>
              <a:t>Importance of the Flow Chart</a:t>
            </a:r>
            <a:endParaRPr lang="en-US" sz="2800" b="1" dirty="0"/>
          </a:p>
        </p:txBody>
      </p:sp>
      <p:sp>
        <p:nvSpPr>
          <p:cNvPr id="3" name="TextBox 2"/>
          <p:cNvSpPr txBox="1"/>
          <p:nvPr/>
        </p:nvSpPr>
        <p:spPr>
          <a:xfrm>
            <a:off x="914400" y="1800225"/>
            <a:ext cx="7315200" cy="1938992"/>
          </a:xfrm>
          <a:prstGeom prst="rect">
            <a:avLst/>
          </a:prstGeom>
          <a:noFill/>
        </p:spPr>
        <p:txBody>
          <a:bodyPr vert="horz" lIns="91440" tIns="45720" rIns="91440" bIns="45720" rtlCol="0" anchorCtr="0">
            <a:spAutoFit/>
          </a:bodyPr>
          <a:lstStyle/>
          <a:p>
            <a:pPr algn="just">
              <a:buFont typeface="Arial" panose="020B0604020202020204" pitchFamily="34" charset="0"/>
              <a:buChar char="•"/>
            </a:pPr>
            <a:r>
              <a:rPr lang="en-US" sz="2000" b="1" dirty="0"/>
              <a:t>Graphical Presentation</a:t>
            </a:r>
            <a:r>
              <a:rPr lang="en-US" sz="2000" dirty="0"/>
              <a:t>: Visual representation of the Automated Library System's processes.</a:t>
            </a:r>
            <a:endParaRPr lang="en-US" sz="2000" dirty="0"/>
          </a:p>
          <a:p>
            <a:pPr algn="just">
              <a:buFont typeface="Arial" panose="020B0604020202020204" pitchFamily="34" charset="0"/>
              <a:buChar char="•"/>
            </a:pPr>
            <a:r>
              <a:rPr lang="en-US" sz="2000" b="1" dirty="0"/>
              <a:t>Sequence Explanation</a:t>
            </a:r>
            <a:r>
              <a:rPr lang="en-US" sz="2000" dirty="0"/>
              <a:t>: Details the sequence of tasks and decisions in library operations.</a:t>
            </a:r>
            <a:endParaRPr lang="en-US" sz="2000" dirty="0"/>
          </a:p>
          <a:p>
            <a:pPr algn="just">
              <a:buFont typeface="Arial" panose="020B0604020202020204" pitchFamily="34" charset="0"/>
              <a:buChar char="•"/>
            </a:pPr>
            <a:r>
              <a:rPr lang="en-US" sz="2000" b="1" dirty="0"/>
              <a:t>Simplifies Complexity</a:t>
            </a:r>
            <a:r>
              <a:rPr lang="en-US" sz="2000" dirty="0"/>
              <a:t>: Makes complex processes easier to understand and digest for readers.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019425"/>
          <a:chOff x="914400" y="1028700"/>
          <a:chExt cx="8229600" cy="3019425"/>
        </a:xfrm>
      </p:grpSpPr>
      <p:sp>
        <p:nvSpPr>
          <p:cNvPr id="2" name="TextBox 1"/>
          <p:cNvSpPr txBox="1"/>
          <p:nvPr/>
        </p:nvSpPr>
        <p:spPr>
          <a:xfrm>
            <a:off x="914400" y="102870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a:rPr>
              <a:t>Areas for Improvement</a:t>
            </a:r>
            <a:endParaRPr lang="en-US" sz="2800" b="1" u="none" strike="noStrike" cap="none" spc="0" dirty="0">
              <a:solidFill>
                <a:srgbClr val="121212">
                  <a:alpha val="100000"/>
                </a:srgbClr>
              </a:solidFill>
              <a:latin typeface="Times New Roman" panose="02020603050405020304"/>
            </a:endParaRPr>
          </a:p>
        </p:txBody>
      </p:sp>
      <p:sp>
        <p:nvSpPr>
          <p:cNvPr id="3" name="TextBox 2"/>
          <p:cNvSpPr txBox="1"/>
          <p:nvPr/>
        </p:nvSpPr>
        <p:spPr>
          <a:xfrm>
            <a:off x="914400" y="1800225"/>
            <a:ext cx="7315200" cy="1921873"/>
          </a:xfrm>
          <a:prstGeom prst="rect">
            <a:avLst/>
          </a:prstGeom>
          <a:noFill/>
        </p:spPr>
        <p:txBody>
          <a:bodyPr vert="horz" lIns="91440" tIns="45720" rIns="91440" bIns="45720" rtlCol="0" anchorCtr="0">
            <a:spAutoFit/>
          </a:bodyPr>
          <a:lstStyle/>
          <a:p>
            <a:pPr marL="342900" marR="0" lvl="0" indent="-342900" algn="just">
              <a:lnSpc>
                <a:spcPct val="107000"/>
              </a:lnSpc>
              <a:spcAft>
                <a:spcPts val="800"/>
              </a:spcAft>
              <a:buSzPts val="1000"/>
              <a:buFont typeface="Symbol" panose="05050102010706020507" pitchFamily="18" charset="2"/>
              <a:buChar char=""/>
              <a:tabLst>
                <a:tab pos="457200" algn="l"/>
              </a:tabLs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Error Handling: Enhance input validation.</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Permanent Storage: Make the rest out as a file storage to the continuity of the data.</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en-PH" sz="2000" kern="100" dirty="0">
                <a:effectLst/>
                <a:latin typeface="Times New Roman" panose="02020603050405020304" pitchFamily="18" charset="0"/>
                <a:ea typeface="Calibri" panose="020F0502020204030204" pitchFamily="34" charset="0"/>
                <a:cs typeface="Times New Roman" panose="02020603050405020304" pitchFamily="18" charset="0"/>
              </a:rPr>
              <a:t>Additional Features: Incorporate fields such as publication year and sorting capabilities.</a:t>
            </a:r>
            <a:endParaRPr lang="en-PH"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4676775"/>
          <a:chOff x="914400" y="1028700"/>
          <a:chExt cx="8229600" cy="4676775"/>
        </a:xfrm>
      </p:grpSpPr>
      <p:sp>
        <p:nvSpPr>
          <p:cNvPr id="2" name="TextBox 1"/>
          <p:cNvSpPr txBox="1"/>
          <p:nvPr/>
        </p:nvSpPr>
        <p:spPr>
          <a:xfrm>
            <a:off x="1763688" y="678346"/>
            <a:ext cx="5486400" cy="52322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2800" b="1" u="none" strike="noStrike" cap="none" spc="0" dirty="0">
                <a:solidFill>
                  <a:srgbClr val="424242">
                    <a:alpha val="100000"/>
                  </a:srgbClr>
                </a:solidFill>
                <a:latin typeface="Times New Roman" panose="02020603050405020304"/>
              </a:rPr>
              <a:t>Conclusion</a:t>
            </a:r>
            <a:endParaRPr lang="en-US" sz="2800" b="1" u="none" strike="noStrike" cap="none" spc="0" dirty="0">
              <a:solidFill>
                <a:srgbClr val="424242">
                  <a:alpha val="100000"/>
                </a:srgbClr>
              </a:solidFill>
              <a:latin typeface="Times New Roman" panose="02020603050405020304"/>
            </a:endParaRPr>
          </a:p>
        </p:txBody>
      </p:sp>
      <p:sp>
        <p:nvSpPr>
          <p:cNvPr id="3" name="TextBox 2"/>
          <p:cNvSpPr txBox="1"/>
          <p:nvPr/>
        </p:nvSpPr>
        <p:spPr>
          <a:xfrm>
            <a:off x="683568" y="1059582"/>
            <a:ext cx="7546032" cy="4524315"/>
          </a:xfrm>
          <a:prstGeom prst="rect">
            <a:avLst/>
          </a:prstGeom>
          <a:noFill/>
        </p:spPr>
        <p:txBody>
          <a:bodyPr vert="horz" wrap="square" lIns="91440" tIns="45720" rIns="91440" bIns="45720" rtlCol="0" anchor="t" anchorCtr="0">
            <a:spAutoFit/>
          </a:bodyPr>
          <a:lstStyle/>
          <a:p>
            <a:pPr algn="just" fontAlgn="t">
              <a:lnSpc>
                <a:spcPct val="120000"/>
              </a:lnSpc>
            </a:pPr>
            <a:r>
              <a:rPr lang="en-US" sz="2000" u="none" strike="noStrike" cap="none" spc="0" dirty="0">
                <a:solidFill>
                  <a:srgbClr val="424242">
                    <a:alpha val="100000"/>
                  </a:srgbClr>
                </a:solidFill>
                <a:latin typeface="Times New Roman" panose="02020603050405020304"/>
              </a:rPr>
              <a:t>Library automation projects create a user-friendly foundation to effectively improve library operations. The system increases efficiency by automating tasks such as adding, displaying, searching, and deleting books. The user-friendly interface makes it accessible to all users. while secure user management protects sensitive data. Allows authorized personnel easy access.</a:t>
            </a:r>
            <a:r>
              <a:rPr lang="en-US" sz="2000" b="0" i="0" dirty="0">
                <a:solidFill>
                  <a:srgbClr val="374151"/>
                </a:solidFill>
                <a:effectLst/>
                <a:latin typeface="Times New Roman" panose="02020603050405020304" pitchFamily="18" charset="0"/>
                <a:cs typeface="Times New Roman" panose="02020603050405020304" pitchFamily="18" charset="0"/>
              </a:rPr>
              <a:t> However, improvements are needed, such as expanding capacity beyond 100 volumes and increasing error control. Using persistent data storage to ensure data continuity and reliability Specifying these areas will make the system more practical for large libraries...</a:t>
            </a:r>
            <a:endParaRPr lang="en-US" sz="2000" b="1" u="none" strike="noStrike" cap="none" spc="0" dirty="0">
              <a:solidFill>
                <a:srgbClr val="424242">
                  <a:alpha val="100000"/>
                </a:srgbClr>
              </a:solidFill>
              <a:latin typeface="Times New Roman" panose="02020603050405020304" pitchFamily="18" charset="0"/>
              <a:cs typeface="Times New Roman" panose="02020603050405020304" pitchFamily="18" charset="0"/>
            </a:endParaRPr>
          </a:p>
          <a:p>
            <a:pPr marL="0" marR="0" lvl="0" indent="0" algn="just" rtl="0" fontAlgn="t">
              <a:lnSpc>
                <a:spcPct val="120000"/>
              </a:lnSpc>
              <a:spcBef>
                <a:spcPts val="0"/>
              </a:spcBef>
              <a:spcAft>
                <a:spcPts val="0"/>
              </a:spcAft>
            </a:pPr>
            <a:endParaRPr lang="en-US" sz="2000" u="none" strike="noStrike" cap="none" spc="0" dirty="0">
              <a:solidFill>
                <a:srgbClr val="424242">
                  <a:alpha val="100000"/>
                </a:srgbClr>
              </a:solidFill>
              <a:latin typeface="Times New Roman" panose="02020603050405020304"/>
            </a:endParaRPr>
          </a:p>
          <a:p>
            <a:pPr marL="0" marR="0" lvl="0" indent="0" algn="just" rtl="0" fontAlgn="t">
              <a:lnSpc>
                <a:spcPct val="120000"/>
              </a:lnSpc>
              <a:spcBef>
                <a:spcPts val="0"/>
              </a:spcBef>
              <a:spcAft>
                <a:spcPts val="0"/>
              </a:spcAft>
            </a:pPr>
            <a:endParaRPr lang="en-US" sz="2000" u="none" strike="noStrike" cap="none" spc="0" dirty="0">
              <a:solidFill>
                <a:srgbClr val="424242">
                  <a:alpha val="100000"/>
                </a:srgbClr>
              </a:solidFill>
              <a:latin typeface="Times New Roman" panose="02020603050405020304"/>
            </a:endParaRPr>
          </a:p>
        </p:txBody>
      </p:sp>
      <p:sp>
        <p:nvSpPr>
          <p:cNvPr id="4" name="TextBox 3"/>
          <p:cNvSpPr txBox="1"/>
          <p:nvPr/>
        </p:nvSpPr>
        <p:spPr>
          <a:xfrm>
            <a:off x="704176" y="345744"/>
            <a:ext cx="7315200" cy="52322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a:rPr>
              <a:t>Chapter 3 </a:t>
            </a:r>
            <a:endParaRPr lang="en-US" sz="2800" b="1" u="none" strike="noStrike" cap="none" spc="0" dirty="0">
              <a:solidFill>
                <a:srgbClr val="121212">
                  <a:alpha val="100000"/>
                </a:srgbClr>
              </a:solidFill>
              <a:latin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TextBox 1"/>
          <p:cNvSpPr txBox="1"/>
          <p:nvPr/>
        </p:nvSpPr>
        <p:spPr>
          <a:xfrm>
            <a:off x="914400" y="1028700"/>
            <a:ext cx="7315200" cy="52322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a:rPr>
              <a:t>Recommendations </a:t>
            </a:r>
            <a:endParaRPr lang="en-US" sz="2800" b="1" u="none" strike="noStrike" cap="none" spc="0" dirty="0">
              <a:solidFill>
                <a:srgbClr val="121212">
                  <a:alpha val="100000"/>
                </a:srgbClr>
              </a:solidFill>
              <a:latin typeface="Times New Roman" panose="02020603050405020304"/>
            </a:endParaRPr>
          </a:p>
        </p:txBody>
      </p:sp>
      <p:sp>
        <p:nvSpPr>
          <p:cNvPr id="3" name="TextBox 2"/>
          <p:cNvSpPr txBox="1"/>
          <p:nvPr/>
        </p:nvSpPr>
        <p:spPr>
          <a:xfrm>
            <a:off x="641176" y="1563638"/>
            <a:ext cx="7315200" cy="2757871"/>
          </a:xfrm>
          <a:prstGeom prst="rect">
            <a:avLst/>
          </a:prstGeom>
          <a:noFill/>
        </p:spPr>
        <p:txBody>
          <a:bodyPr vert="horz" lIns="91440" tIns="45720" rIns="91440" bIns="45720" rtlCol="0" anchorCtr="0">
            <a:spAutoFit/>
          </a:bodyPr>
          <a:lstStyle/>
          <a:p>
            <a:pPr marL="0" marR="0" algn="just">
              <a:lnSpc>
                <a:spcPct val="107000"/>
              </a:lnSpc>
              <a:spcAft>
                <a:spcPts val="800"/>
              </a:spcAft>
            </a:pPr>
            <a:r>
              <a:rPr lang="en-PH" sz="1800" kern="100" dirty="0">
                <a:effectLst/>
                <a:latin typeface="Times New Roman" panose="02020603050405020304" pitchFamily="18" charset="0"/>
                <a:ea typeface="Calibri" panose="020F0502020204030204" pitchFamily="34" charset="0"/>
                <a:cs typeface="Times New Roman" panose="02020603050405020304" pitchFamily="18" charset="0"/>
              </a:rPr>
              <a:t>The researchers provide the following recommendations for library automation to increase access to resources.</a:t>
            </a:r>
            <a:endParaRPr lang="en-PH"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Aft>
                <a:spcPts val="800"/>
              </a:spcAft>
            </a:pPr>
            <a:r>
              <a:rPr lang="en-PH" sz="1800" kern="100" dirty="0">
                <a:effectLst/>
                <a:latin typeface="Times New Roman" panose="02020603050405020304" pitchFamily="18" charset="0"/>
                <a:ea typeface="Calibri" panose="020F0502020204030204" pitchFamily="34" charset="0"/>
                <a:cs typeface="Times New Roman" panose="02020603050405020304" pitchFamily="18" charset="0"/>
              </a:rPr>
              <a:t>Redesigned for scalability: Use dynamic data structures or databases to support larger collections without performance issues.</a:t>
            </a:r>
            <a:endParaRPr lang="en-PH"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Aft>
                <a:spcPts val="800"/>
              </a:spcAft>
            </a:pPr>
            <a:r>
              <a:rPr lang="en-PH" sz="1800" kern="100" dirty="0">
                <a:effectLst/>
                <a:latin typeface="Times New Roman" panose="02020603050405020304" pitchFamily="18" charset="0"/>
                <a:ea typeface="Calibri" panose="020F0502020204030204" pitchFamily="34" charset="0"/>
                <a:cs typeface="Times New Roman" panose="02020603050405020304" pitchFamily="18" charset="0"/>
              </a:rPr>
              <a:t>Improve security: Use encryption. Multi-factor authentication and backup protocols to protect sensitive data.</a:t>
            </a:r>
            <a:endParaRPr lang="en-PH"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Aft>
                <a:spcPts val="800"/>
              </a:spcAft>
            </a:pPr>
            <a:r>
              <a:rPr lang="en-PH" sz="1800" kern="100" dirty="0">
                <a:effectLst/>
                <a:latin typeface="Times New Roman" panose="02020603050405020304" pitchFamily="18" charset="0"/>
                <a:ea typeface="Calibri" panose="020F0502020204030204" pitchFamily="34" charset="0"/>
                <a:cs typeface="Times New Roman" panose="02020603050405020304" pitchFamily="18" charset="0"/>
              </a:rPr>
              <a:t>Real-Time Book Reservations: Added a system for users to reserve check-out books and receive notifications when they become available.</a:t>
            </a:r>
            <a:endParaRPr lang="en-PH"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3" name="TextBox 2"/>
          <p:cNvSpPr txBox="1"/>
          <p:nvPr/>
        </p:nvSpPr>
        <p:spPr>
          <a:xfrm>
            <a:off x="899592" y="1563638"/>
            <a:ext cx="7315200" cy="2055756"/>
          </a:xfrm>
          <a:prstGeom prst="rect">
            <a:avLst/>
          </a:prstGeom>
          <a:noFill/>
        </p:spPr>
        <p:txBody>
          <a:bodyPr vert="horz" lIns="91440" tIns="45720" rIns="91440" bIns="45720" rtlCol="0" anchorCtr="0">
            <a:spAutoFit/>
          </a:bodyPr>
          <a:lstStyle/>
          <a:p>
            <a:pPr marL="0" marR="0" algn="just">
              <a:lnSpc>
                <a:spcPct val="107000"/>
              </a:lnSpc>
              <a:spcAft>
                <a:spcPts val="800"/>
              </a:spcAft>
            </a:pPr>
            <a:r>
              <a:rPr lang="en-PH" sz="1800" kern="100" dirty="0">
                <a:effectLst/>
                <a:latin typeface="Times New Roman" panose="02020603050405020304" pitchFamily="18" charset="0"/>
                <a:ea typeface="Calibri" panose="020F0502020204030204" pitchFamily="34" charset="0"/>
                <a:cs typeface="Times New Roman" panose="02020603050405020304" pitchFamily="18" charset="0"/>
              </a:rPr>
              <a:t>Data analytics integration: Track user activity and book usage to help make decisions about book acquisition and distribution.</a:t>
            </a:r>
            <a:endParaRPr lang="en-PH"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Aft>
                <a:spcPts val="800"/>
              </a:spcAft>
            </a:pPr>
            <a:r>
              <a:rPr lang="en-PH" sz="1800" kern="100" dirty="0">
                <a:effectLst/>
                <a:latin typeface="Times New Roman" panose="02020603050405020304" pitchFamily="18" charset="0"/>
                <a:ea typeface="Calibri" panose="020F0502020204030204" pitchFamily="34" charset="0"/>
                <a:cs typeface="Times New Roman" panose="02020603050405020304" pitchFamily="18" charset="0"/>
              </a:rPr>
              <a:t>Strengthen Error Handling: Improved input validation and error message delivery to effectively deal with unexpected inputs and system failures.</a:t>
            </a:r>
            <a:endParaRPr lang="en-PH"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Aft>
                <a:spcPts val="800"/>
              </a:spcAft>
            </a:pPr>
            <a:r>
              <a:rPr lang="en-PH" sz="1800" kern="100" dirty="0">
                <a:effectLst/>
                <a:latin typeface="Times New Roman" panose="02020603050405020304" pitchFamily="18" charset="0"/>
                <a:ea typeface="Calibri" panose="020F0502020204030204" pitchFamily="34" charset="0"/>
                <a:cs typeface="Times New Roman" panose="02020603050405020304" pitchFamily="18" charset="0"/>
              </a:rPr>
              <a:t>Integrate with External Networks: Connect to library networks or other digital repositories to provide access to larger resource collections.</a:t>
            </a:r>
            <a:endParaRPr lang="en-PH"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p:cNvSpPr txBox="1"/>
          <p:nvPr/>
        </p:nvSpPr>
        <p:spPr>
          <a:xfrm>
            <a:off x="914400" y="1028700"/>
            <a:ext cx="7315200" cy="52322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panose="02020603050405020304"/>
              </a:rPr>
              <a:t>Recommendations </a:t>
            </a:r>
            <a:endParaRPr lang="en-US" sz="2800" b="1" u="none" strike="noStrike" cap="none" spc="0" dirty="0">
              <a:solidFill>
                <a:srgbClr val="121212">
                  <a:alpha val="100000"/>
                </a:srgbClr>
              </a:solidFill>
              <a:latin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828800" y="1028700"/>
          <a:ext cx="7315200" cy="3581400"/>
          <a:chOff x="1828800" y="1028700"/>
          <a:chExt cx="7315200" cy="3581400"/>
        </a:xfrm>
      </p:grpSpPr>
      <p:sp>
        <p:nvSpPr>
          <p:cNvPr id="2" name="TextBox 1"/>
          <p:cNvSpPr txBox="1"/>
          <p:nvPr/>
        </p:nvSpPr>
        <p:spPr>
          <a:xfrm>
            <a:off x="1828800" y="1028700"/>
            <a:ext cx="5486400" cy="85725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6000" b="1" u="none" strike="noStrike" cap="none" spc="0" dirty="0">
                <a:solidFill>
                  <a:srgbClr val="424242">
                    <a:alpha val="100000"/>
                  </a:srgbClr>
                </a:solidFill>
                <a:latin typeface="Times New Roman" panose="02020603050405020304"/>
              </a:rPr>
              <a:t>Thank you!</a:t>
            </a:r>
            <a:endParaRPr lang="en-US" sz="6000" b="1" u="none" strike="noStrike" cap="none" spc="0" dirty="0">
              <a:solidFill>
                <a:srgbClr val="424242">
                  <a:alpha val="100000"/>
                </a:srgbClr>
              </a:solidFill>
              <a:latin typeface="Times New Roman" panose="02020603050405020304"/>
            </a:endParaRPr>
          </a:p>
        </p:txBody>
      </p:sp>
    </p:spTree>
  </p:cSld>
  <p:clrMapOvr>
    <a:masterClrMapping/>
  </p:clrMapOvr>
</p:sld>
</file>

<file path=ppt/theme/theme1.xml><?xml version="1.0" encoding="utf-8"?>
<a:theme xmlns:a="http://schemas.openxmlformats.org/drawingml/2006/main" name="Theme89">
  <a:themeElements>
    <a:clrScheme name="Theme89">
      <a:dk1>
        <a:sysClr val="windowText" lastClr="000000"/>
      </a:dk1>
      <a:lt1>
        <a:sysClr val="window" lastClr="FFFFFF"/>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Theme89">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8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5830</Words>
  <Application>WPS Presentation</Application>
  <PresentationFormat>On-screen Show (16:9)</PresentationFormat>
  <Paragraphs>153</Paragraphs>
  <Slides>17</Slides>
  <Notes>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17</vt:i4>
      </vt:variant>
    </vt:vector>
  </HeadingPairs>
  <TitlesOfParts>
    <vt:vector size="36" baseType="lpstr">
      <vt:lpstr>Arial</vt:lpstr>
      <vt:lpstr>SimSun</vt:lpstr>
      <vt:lpstr>Wingdings</vt:lpstr>
      <vt:lpstr>Times New Roman</vt:lpstr>
      <vt:lpstr>Times New Roman</vt:lpstr>
      <vt:lpstr>Calibri</vt:lpstr>
      <vt:lpstr>Calibri</vt:lpstr>
      <vt:lpstr>Symbol</vt:lpstr>
      <vt:lpstr>Nunito Sans</vt:lpstr>
      <vt:lpstr>AMGDT</vt:lpstr>
      <vt:lpstr>Microsoft YaHei</vt:lpstr>
      <vt:lpstr>Arial Unicode MS</vt:lpstr>
      <vt:lpstr>Bahnschrift Light</vt:lpstr>
      <vt:lpstr>Wingdings 2</vt:lpstr>
      <vt:lpstr>TechnicLite</vt:lpstr>
      <vt:lpstr>Symbol</vt:lpstr>
      <vt:lpstr>Tempus Sans ITC</vt:lpstr>
      <vt:lpstr>Tahoma</vt:lpstr>
      <vt:lpstr>Theme89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creator>Unknown Creator</dc:creator>
  <cp:lastModifiedBy>FhenelynRose Yadao</cp:lastModifiedBy>
  <cp:revision>18</cp:revision>
  <dcterms:created xsi:type="dcterms:W3CDTF">2024-12-19T13:36:00Z</dcterms:created>
  <dcterms:modified xsi:type="dcterms:W3CDTF">2024-12-20T16:47:19Z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28791E9C798E453B9CB0D8D678FC80C4_13</vt:lpwstr>
  </property>
  <property fmtid="{D5CDD505-2E9C-101B-9397-08002B2CF9AE}" pid="3" name="KSOProductBuildVer">
    <vt:lpwstr>1033-12.2.0.19307</vt:lpwstr>
  </property>
</Properties>
</file>